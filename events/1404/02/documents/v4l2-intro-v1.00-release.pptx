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1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141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142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43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5F2E1E9-7178-4972-8B94-0D83C4933D1B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5900" y="812800"/>
            <a:ext cx="7126288" cy="4008438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582120" y="50191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95325"/>
            <a:ext cx="6092825" cy="3427413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95325"/>
            <a:ext cx="6092825" cy="3427413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95325"/>
            <a:ext cx="6092825" cy="3427413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95325"/>
            <a:ext cx="6092825" cy="3427413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95325"/>
            <a:ext cx="6092825" cy="3427413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95325"/>
            <a:ext cx="6092825" cy="3427413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95325"/>
            <a:ext cx="6092825" cy="3427413"/>
          </a:xfrm>
          <a:prstGeom prst="rect">
            <a:avLst/>
          </a:prstGeom>
          <a:ln w="0">
            <a:noFill/>
          </a:ln>
        </p:spPr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B48624E-C27D-4960-9E0D-13C3B5AACBB6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F8F1153-2D03-469F-A300-FFF6A7AE14C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E16113E-FD97-4A4A-912D-471BE2FB46D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33EE82A-91FD-449C-B92C-6D30F0D96B16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6F7EA97-5396-4B67-8C90-4354735E9CD1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811E1BF-9C8E-4088-9D1A-618354F44D8C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EFE5EAC-2C72-4296-B876-D2D8AFA2427D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D568A81-18D6-4EC6-A35E-C70F7137D522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E189C25-3A28-488B-8F48-4A8FA9DAF704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5A1A34D-B2E5-41FA-BC9C-9315EAF81298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26CAF6E-02F0-4CF1-8345-42E7BAF1E4B5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414D3A2-7378-4358-82CF-A95579B4B492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1BC3A97-F9E9-478C-A933-09B06DBF4593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30B98FF-4A02-4D16-9C69-04FB3D46DB7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6ED27092-B979-49C7-8959-7DC47C672AB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6B3FA4A1-2289-420D-AFEF-AC23BEFB711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9D9A699A-473F-4D68-AB7B-83C5ECCF8E5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B547692-2DC2-42B0-9BEE-77DD1FE979C0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C3887283-90BB-419D-9478-68EB5A51C159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C112E73-045A-461C-A6EF-08006288AE4F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CC8F6876-6A69-40E6-A56C-0E5DC88A87C5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2F6E073-1783-44B8-A0D0-B8C26B229B1D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9011518-E021-4E79-A8D9-FBD3C645ED7D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7EC5C03-54B3-41DC-8FF0-C2F32F8E2899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9F921163-5DD1-4E7F-9F83-C229D111705A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22"/>
          <p:cNvGrpSpPr/>
          <p:nvPr/>
        </p:nvGrpSpPr>
        <p:grpSpPr>
          <a:xfrm>
            <a:off x="0" y="228600"/>
            <a:ext cx="2850480" cy="6637680"/>
            <a:chOff x="0" y="228600"/>
            <a:chExt cx="2850480" cy="6637680"/>
          </a:xfrm>
        </p:grpSpPr>
        <p:sp>
          <p:nvSpPr>
            <p:cNvPr id="34" name="Freeform 11"/>
            <p:cNvSpPr/>
            <p:nvPr/>
          </p:nvSpPr>
          <p:spPr>
            <a:xfrm>
              <a:off x="0" y="2575080"/>
              <a:ext cx="99720" cy="624960"/>
            </a:xfrm>
            <a:custGeom>
              <a:avLst/>
              <a:gdLst>
                <a:gd name="textAreaLeft" fmla="*/ 0 w 99720"/>
                <a:gd name="textAreaRight" fmla="*/ 100800 w 99720"/>
                <a:gd name="textAreaTop" fmla="*/ 0 h 624960"/>
                <a:gd name="textAreaBottom" fmla="*/ 626040 h 62496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" name="Freeform 12"/>
            <p:cNvSpPr/>
            <p:nvPr/>
          </p:nvSpPr>
          <p:spPr>
            <a:xfrm>
              <a:off x="128520" y="3156480"/>
              <a:ext cx="645480" cy="2321280"/>
            </a:xfrm>
            <a:custGeom>
              <a:avLst/>
              <a:gdLst>
                <a:gd name="textAreaLeft" fmla="*/ 0 w 645480"/>
                <a:gd name="textAreaRight" fmla="*/ 646560 w 645480"/>
                <a:gd name="textAreaTop" fmla="*/ 0 h 2321280"/>
                <a:gd name="textAreaBottom" fmla="*/ 2322360 h 232128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" name="Freeform 13"/>
            <p:cNvSpPr/>
            <p:nvPr/>
          </p:nvSpPr>
          <p:spPr>
            <a:xfrm>
              <a:off x="807120" y="5447160"/>
              <a:ext cx="608400" cy="1419120"/>
            </a:xfrm>
            <a:custGeom>
              <a:avLst/>
              <a:gdLst>
                <a:gd name="textAreaLeft" fmla="*/ 0 w 608400"/>
                <a:gd name="textAreaRight" fmla="*/ 609480 w 608400"/>
                <a:gd name="textAreaTop" fmla="*/ 0 h 1419120"/>
                <a:gd name="textAreaBottom" fmla="*/ 1420200 h 141912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" name="Freeform 14"/>
            <p:cNvSpPr/>
            <p:nvPr/>
          </p:nvSpPr>
          <p:spPr>
            <a:xfrm>
              <a:off x="959760" y="6503760"/>
              <a:ext cx="170280" cy="362520"/>
            </a:xfrm>
            <a:custGeom>
              <a:avLst/>
              <a:gdLst>
                <a:gd name="textAreaLeft" fmla="*/ 0 w 170280"/>
                <a:gd name="textAreaRight" fmla="*/ 171360 w 170280"/>
                <a:gd name="textAreaTop" fmla="*/ 0 h 362520"/>
                <a:gd name="textAreaBottom" fmla="*/ 363600 h 36252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" name="Freeform 15"/>
            <p:cNvSpPr/>
            <p:nvPr/>
          </p:nvSpPr>
          <p:spPr>
            <a:xfrm>
              <a:off x="100800" y="3201120"/>
              <a:ext cx="820800" cy="3327480"/>
            </a:xfrm>
            <a:custGeom>
              <a:avLst/>
              <a:gdLst>
                <a:gd name="textAreaLeft" fmla="*/ 0 w 820800"/>
                <a:gd name="textAreaRight" fmla="*/ 821880 w 820800"/>
                <a:gd name="textAreaTop" fmla="*/ 0 h 3327480"/>
                <a:gd name="textAreaBottom" fmla="*/ 3328560 h 332748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" name="Freeform 16"/>
            <p:cNvSpPr/>
            <p:nvPr/>
          </p:nvSpPr>
          <p:spPr>
            <a:xfrm>
              <a:off x="22320" y="228600"/>
              <a:ext cx="105120" cy="2926800"/>
            </a:xfrm>
            <a:custGeom>
              <a:avLst/>
              <a:gdLst>
                <a:gd name="textAreaLeft" fmla="*/ 0 w 105120"/>
                <a:gd name="textAreaRight" fmla="*/ 106200 w 105120"/>
                <a:gd name="textAreaTop" fmla="*/ 0 h 2926800"/>
                <a:gd name="textAreaBottom" fmla="*/ 2927880 h 292680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" name="Freeform 17"/>
            <p:cNvSpPr/>
            <p:nvPr/>
          </p:nvSpPr>
          <p:spPr>
            <a:xfrm>
              <a:off x="78120" y="2944080"/>
              <a:ext cx="77040" cy="492840"/>
            </a:xfrm>
            <a:custGeom>
              <a:avLst/>
              <a:gdLst>
                <a:gd name="textAreaLeft" fmla="*/ 0 w 77040"/>
                <a:gd name="textAreaRight" fmla="*/ 78120 w 77040"/>
                <a:gd name="textAreaTop" fmla="*/ 0 h 492840"/>
                <a:gd name="textAreaBottom" fmla="*/ 493920 h 49284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" name="Freeform 18"/>
            <p:cNvSpPr/>
            <p:nvPr/>
          </p:nvSpPr>
          <p:spPr>
            <a:xfrm>
              <a:off x="769680" y="5478840"/>
              <a:ext cx="189000" cy="1023840"/>
            </a:xfrm>
            <a:custGeom>
              <a:avLst/>
              <a:gdLst>
                <a:gd name="textAreaLeft" fmla="*/ 0 w 189000"/>
                <a:gd name="textAreaRight" fmla="*/ 190080 w 189000"/>
                <a:gd name="textAreaTop" fmla="*/ 0 h 1023840"/>
                <a:gd name="textAreaBottom" fmla="*/ 1024920 h 102384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" name="Freeform 19"/>
            <p:cNvSpPr/>
            <p:nvPr/>
          </p:nvSpPr>
          <p:spPr>
            <a:xfrm>
              <a:off x="775440" y="1398960"/>
              <a:ext cx="2075040" cy="4047120"/>
            </a:xfrm>
            <a:custGeom>
              <a:avLst/>
              <a:gdLst>
                <a:gd name="textAreaLeft" fmla="*/ 0 w 2075040"/>
                <a:gd name="textAreaRight" fmla="*/ 2076120 w 2075040"/>
                <a:gd name="textAreaTop" fmla="*/ 0 h 4047120"/>
                <a:gd name="textAreaBottom" fmla="*/ 4048200 h 404712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" name="Freeform 20"/>
            <p:cNvSpPr/>
            <p:nvPr/>
          </p:nvSpPr>
          <p:spPr>
            <a:xfrm>
              <a:off x="922680" y="6530040"/>
              <a:ext cx="160920" cy="33624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336240"/>
                <a:gd name="textAreaBottom" fmla="*/ 337320 h 33624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" name="Freeform 21"/>
            <p:cNvSpPr/>
            <p:nvPr/>
          </p:nvSpPr>
          <p:spPr>
            <a:xfrm>
              <a:off x="769680" y="5359320"/>
              <a:ext cx="36360" cy="220680"/>
            </a:xfrm>
            <a:custGeom>
              <a:avLst/>
              <a:gdLst>
                <a:gd name="textAreaLeft" fmla="*/ 0 w 36360"/>
                <a:gd name="textAreaRight" fmla="*/ 37440 w 36360"/>
                <a:gd name="textAreaTop" fmla="*/ 0 h 220680"/>
                <a:gd name="textAreaBottom" fmla="*/ 221760 h 22068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" name="Freeform 22"/>
            <p:cNvSpPr/>
            <p:nvPr/>
          </p:nvSpPr>
          <p:spPr>
            <a:xfrm>
              <a:off x="849960" y="6244560"/>
              <a:ext cx="237600" cy="621360"/>
            </a:xfrm>
            <a:custGeom>
              <a:avLst/>
              <a:gdLst>
                <a:gd name="textAreaLeft" fmla="*/ 0 w 237600"/>
                <a:gd name="textAreaRight" fmla="*/ 238680 w 237600"/>
                <a:gd name="textAreaTop" fmla="*/ 0 h 621360"/>
                <a:gd name="textAreaBottom" fmla="*/ 622440 h 62136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13" name="Group 9"/>
          <p:cNvGrpSpPr/>
          <p:nvPr/>
        </p:nvGrpSpPr>
        <p:grpSpPr>
          <a:xfrm>
            <a:off x="27360" y="-720"/>
            <a:ext cx="2355480" cy="6852960"/>
            <a:chOff x="27360" y="-720"/>
            <a:chExt cx="2355480" cy="6852960"/>
          </a:xfrm>
        </p:grpSpPr>
        <p:sp>
          <p:nvSpPr>
            <p:cNvPr id="14" name="Freeform 27"/>
            <p:cNvSpPr/>
            <p:nvPr/>
          </p:nvSpPr>
          <p:spPr>
            <a:xfrm>
              <a:off x="27360" y="-720"/>
              <a:ext cx="493200" cy="4399920"/>
            </a:xfrm>
            <a:custGeom>
              <a:avLst/>
              <a:gdLst>
                <a:gd name="textAreaLeft" fmla="*/ 0 w 493200"/>
                <a:gd name="textAreaRight" fmla="*/ 494280 w 493200"/>
                <a:gd name="textAreaTop" fmla="*/ 0 h 4399920"/>
                <a:gd name="textAreaBottom" fmla="*/ 4401000 h 439992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5" name="Freeform 28"/>
            <p:cNvSpPr/>
            <p:nvPr/>
          </p:nvSpPr>
          <p:spPr>
            <a:xfrm>
              <a:off x="550440" y="4316400"/>
              <a:ext cx="422280" cy="1579680"/>
            </a:xfrm>
            <a:custGeom>
              <a:avLst/>
              <a:gdLst>
                <a:gd name="textAreaLeft" fmla="*/ 0 w 422280"/>
                <a:gd name="textAreaRight" fmla="*/ 423360 w 422280"/>
                <a:gd name="textAreaTop" fmla="*/ 0 h 1579680"/>
                <a:gd name="textAreaBottom" fmla="*/ 1580760 h 157968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6" name="Freeform 29"/>
            <p:cNvSpPr/>
            <p:nvPr/>
          </p:nvSpPr>
          <p:spPr>
            <a:xfrm>
              <a:off x="1006200" y="5862600"/>
              <a:ext cx="429840" cy="989640"/>
            </a:xfrm>
            <a:custGeom>
              <a:avLst/>
              <a:gdLst>
                <a:gd name="textAreaLeft" fmla="*/ 0 w 429840"/>
                <a:gd name="textAreaRight" fmla="*/ 430920 w 429840"/>
                <a:gd name="textAreaTop" fmla="*/ 0 h 989640"/>
                <a:gd name="textAreaBottom" fmla="*/ 990720 h 98964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7" name="Freeform 30"/>
            <p:cNvSpPr/>
            <p:nvPr/>
          </p:nvSpPr>
          <p:spPr>
            <a:xfrm>
              <a:off x="521640" y="4364280"/>
              <a:ext cx="550800" cy="2234880"/>
            </a:xfrm>
            <a:custGeom>
              <a:avLst/>
              <a:gdLst>
                <a:gd name="textAreaLeft" fmla="*/ 0 w 550800"/>
                <a:gd name="textAreaRight" fmla="*/ 551880 w 550800"/>
                <a:gd name="textAreaTop" fmla="*/ 0 h 2234880"/>
                <a:gd name="textAreaBottom" fmla="*/ 2235960 h 223488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" name="Freeform 31"/>
            <p:cNvSpPr/>
            <p:nvPr/>
          </p:nvSpPr>
          <p:spPr>
            <a:xfrm>
              <a:off x="468000" y="1289160"/>
              <a:ext cx="173160" cy="3026160"/>
            </a:xfrm>
            <a:custGeom>
              <a:avLst/>
              <a:gdLst>
                <a:gd name="textAreaLeft" fmla="*/ 0 w 173160"/>
                <a:gd name="textAreaRight" fmla="*/ 174240 w 173160"/>
                <a:gd name="textAreaTop" fmla="*/ 0 h 3026160"/>
                <a:gd name="textAreaBottom" fmla="*/ 3027240 h 302616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" name="Freeform 32"/>
            <p:cNvSpPr/>
            <p:nvPr/>
          </p:nvSpPr>
          <p:spPr>
            <a:xfrm>
              <a:off x="1111680" y="6571440"/>
              <a:ext cx="133200" cy="280440"/>
            </a:xfrm>
            <a:custGeom>
              <a:avLst/>
              <a:gdLst>
                <a:gd name="textAreaLeft" fmla="*/ 0 w 133200"/>
                <a:gd name="textAreaRight" fmla="*/ 134280 w 133200"/>
                <a:gd name="textAreaTop" fmla="*/ 0 h 280440"/>
                <a:gd name="textAreaBottom" fmla="*/ 281520 h 28044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" name="Freeform 33"/>
            <p:cNvSpPr/>
            <p:nvPr/>
          </p:nvSpPr>
          <p:spPr>
            <a:xfrm>
              <a:off x="502560" y="4107600"/>
              <a:ext cx="81360" cy="510480"/>
            </a:xfrm>
            <a:custGeom>
              <a:avLst/>
              <a:gdLst>
                <a:gd name="textAreaLeft" fmla="*/ 0 w 81360"/>
                <a:gd name="textAreaRight" fmla="*/ 82440 w 81360"/>
                <a:gd name="textAreaTop" fmla="*/ 0 h 510480"/>
                <a:gd name="textAreaBottom" fmla="*/ 511560 h 51048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" name="Freeform 34"/>
            <p:cNvSpPr/>
            <p:nvPr/>
          </p:nvSpPr>
          <p:spPr>
            <a:xfrm>
              <a:off x="973800" y="3145680"/>
              <a:ext cx="1409040" cy="2715840"/>
            </a:xfrm>
            <a:custGeom>
              <a:avLst/>
              <a:gdLst>
                <a:gd name="textAreaLeft" fmla="*/ 0 w 1409040"/>
                <a:gd name="textAreaRight" fmla="*/ 1410120 w 1409040"/>
                <a:gd name="textAreaTop" fmla="*/ 0 h 2715840"/>
                <a:gd name="textAreaBottom" fmla="*/ 2716920 h 271584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" name="Freeform 35"/>
            <p:cNvSpPr/>
            <p:nvPr/>
          </p:nvSpPr>
          <p:spPr>
            <a:xfrm>
              <a:off x="1073520" y="6600240"/>
              <a:ext cx="119520" cy="252000"/>
            </a:xfrm>
            <a:custGeom>
              <a:avLst/>
              <a:gdLst>
                <a:gd name="textAreaLeft" fmla="*/ 0 w 119520"/>
                <a:gd name="textAreaRight" fmla="*/ 120600 w 119520"/>
                <a:gd name="textAreaTop" fmla="*/ 0 h 252000"/>
                <a:gd name="textAreaBottom" fmla="*/ 253080 h 25200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3" name="Freeform 36"/>
            <p:cNvSpPr/>
            <p:nvPr/>
          </p:nvSpPr>
          <p:spPr>
            <a:xfrm>
              <a:off x="973800" y="5897160"/>
              <a:ext cx="136800" cy="673200"/>
            </a:xfrm>
            <a:custGeom>
              <a:avLst/>
              <a:gdLst>
                <a:gd name="textAreaLeft" fmla="*/ 0 w 136800"/>
                <a:gd name="textAreaRight" fmla="*/ 137880 w 136800"/>
                <a:gd name="textAreaTop" fmla="*/ 0 h 673200"/>
                <a:gd name="textAreaBottom" fmla="*/ 674280 h 67320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4" name="Freeform 37"/>
            <p:cNvSpPr/>
            <p:nvPr/>
          </p:nvSpPr>
          <p:spPr>
            <a:xfrm>
              <a:off x="973800" y="5772600"/>
              <a:ext cx="37080" cy="226800"/>
            </a:xfrm>
            <a:custGeom>
              <a:avLst/>
              <a:gdLst>
                <a:gd name="textAreaLeft" fmla="*/ 0 w 37080"/>
                <a:gd name="textAreaRight" fmla="*/ 38160 w 37080"/>
                <a:gd name="textAreaTop" fmla="*/ 0 h 226800"/>
                <a:gd name="textAreaBottom" fmla="*/ 227880 h 2268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" name="Freeform 38"/>
            <p:cNvSpPr/>
            <p:nvPr/>
          </p:nvSpPr>
          <p:spPr>
            <a:xfrm>
              <a:off x="1006200" y="6322680"/>
              <a:ext cx="209520" cy="529560"/>
            </a:xfrm>
            <a:custGeom>
              <a:avLst/>
              <a:gdLst>
                <a:gd name="textAreaLeft" fmla="*/ 0 w 209520"/>
                <a:gd name="textAreaRight" fmla="*/ 210600 w 209520"/>
                <a:gd name="textAreaTop" fmla="*/ 0 h 529560"/>
                <a:gd name="textAreaBottom" fmla="*/ 530640 h 52956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6" name="Rectangle 6"/>
          <p:cNvSpPr/>
          <p:nvPr/>
        </p:nvSpPr>
        <p:spPr>
          <a:xfrm>
            <a:off x="0" y="0"/>
            <a:ext cx="181800" cy="685692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st="2556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" name="Freeform 6"/>
          <p:cNvSpPr/>
          <p:nvPr/>
        </p:nvSpPr>
        <p:spPr>
          <a:xfrm>
            <a:off x="0" y="4323960"/>
            <a:ext cx="1743480" cy="777600"/>
          </a:xfrm>
          <a:custGeom>
            <a:avLst/>
            <a:gdLst>
              <a:gd name="textAreaLeft" fmla="*/ 0 w 1743480"/>
              <a:gd name="textAreaRight" fmla="*/ 1744560 w 1743480"/>
              <a:gd name="textAreaTop" fmla="*/ 0 h 777600"/>
              <a:gd name="textAreaBottom" fmla="*/ 778680 h 777600"/>
            </a:gdLst>
            <a:ahLst/>
            <a:cxnLst/>
            <a:rect l="textAreaLeft" t="textAreaTop" r="textAreaRight" b="textAreaBottom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0" name="PlaceHolder 3"/>
          <p:cNvSpPr>
            <a:spLocks noGrp="1"/>
          </p:cNvSpPr>
          <p:nvPr>
            <p:ph type="ftr" idx="1"/>
          </p:nvPr>
        </p:nvSpPr>
        <p:spPr>
          <a:xfrm>
            <a:off x="2589120" y="6135840"/>
            <a:ext cx="761904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1" name="PlaceHolder 4"/>
          <p:cNvSpPr>
            <a:spLocks noGrp="1"/>
          </p:cNvSpPr>
          <p:nvPr>
            <p:ph type="sldNum" idx="2"/>
          </p:nvPr>
        </p:nvSpPr>
        <p:spPr>
          <a:xfrm>
            <a:off x="531720" y="4529520"/>
            <a:ext cx="77868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2000" b="0" strike="noStrike" spc="-1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451F0D9-1166-4F91-9FF4-842551102CA4}" type="slidenum">
              <a:rPr lang="en-US" sz="2000" b="0" strike="noStrike" spc="-1">
                <a:solidFill>
                  <a:srgbClr val="FEFFFF"/>
                </a:solidFill>
                <a:latin typeface="Century Gothic"/>
              </a:rPr>
              <a:t>‹#›</a:t>
            </a:fld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dt" idx="3"/>
          </p:nvPr>
        </p:nvSpPr>
        <p:spPr>
          <a:xfrm>
            <a:off x="10361520" y="6130440"/>
            <a:ext cx="1145160" cy="36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22"/>
          <p:cNvGrpSpPr/>
          <p:nvPr/>
        </p:nvGrpSpPr>
        <p:grpSpPr>
          <a:xfrm>
            <a:off x="0" y="228600"/>
            <a:ext cx="2850480" cy="6637680"/>
            <a:chOff x="0" y="228600"/>
            <a:chExt cx="2850480" cy="6637680"/>
          </a:xfrm>
        </p:grpSpPr>
        <p:sp>
          <p:nvSpPr>
            <p:cNvPr id="70" name="Freeform 11"/>
            <p:cNvSpPr/>
            <p:nvPr/>
          </p:nvSpPr>
          <p:spPr>
            <a:xfrm>
              <a:off x="0" y="2575080"/>
              <a:ext cx="99720" cy="624960"/>
            </a:xfrm>
            <a:custGeom>
              <a:avLst/>
              <a:gdLst>
                <a:gd name="textAreaLeft" fmla="*/ 0 w 99720"/>
                <a:gd name="textAreaRight" fmla="*/ 100800 w 99720"/>
                <a:gd name="textAreaTop" fmla="*/ 0 h 624960"/>
                <a:gd name="textAreaBottom" fmla="*/ 626040 h 62496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1" name="Freeform 12"/>
            <p:cNvSpPr/>
            <p:nvPr/>
          </p:nvSpPr>
          <p:spPr>
            <a:xfrm>
              <a:off x="128520" y="3156480"/>
              <a:ext cx="645480" cy="2321280"/>
            </a:xfrm>
            <a:custGeom>
              <a:avLst/>
              <a:gdLst>
                <a:gd name="textAreaLeft" fmla="*/ 0 w 645480"/>
                <a:gd name="textAreaRight" fmla="*/ 646560 w 645480"/>
                <a:gd name="textAreaTop" fmla="*/ 0 h 2321280"/>
                <a:gd name="textAreaBottom" fmla="*/ 2322360 h 232128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2" name="Freeform 13"/>
            <p:cNvSpPr/>
            <p:nvPr/>
          </p:nvSpPr>
          <p:spPr>
            <a:xfrm>
              <a:off x="807120" y="5447160"/>
              <a:ext cx="608400" cy="1419120"/>
            </a:xfrm>
            <a:custGeom>
              <a:avLst/>
              <a:gdLst>
                <a:gd name="textAreaLeft" fmla="*/ 0 w 608400"/>
                <a:gd name="textAreaRight" fmla="*/ 609480 w 608400"/>
                <a:gd name="textAreaTop" fmla="*/ 0 h 1419120"/>
                <a:gd name="textAreaBottom" fmla="*/ 1420200 h 141912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3" name="Freeform 14"/>
            <p:cNvSpPr/>
            <p:nvPr/>
          </p:nvSpPr>
          <p:spPr>
            <a:xfrm>
              <a:off x="959760" y="6503760"/>
              <a:ext cx="170280" cy="362520"/>
            </a:xfrm>
            <a:custGeom>
              <a:avLst/>
              <a:gdLst>
                <a:gd name="textAreaLeft" fmla="*/ 0 w 170280"/>
                <a:gd name="textAreaRight" fmla="*/ 171360 w 170280"/>
                <a:gd name="textAreaTop" fmla="*/ 0 h 362520"/>
                <a:gd name="textAreaBottom" fmla="*/ 363600 h 36252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4" name="Freeform 15"/>
            <p:cNvSpPr/>
            <p:nvPr/>
          </p:nvSpPr>
          <p:spPr>
            <a:xfrm>
              <a:off x="100800" y="3201120"/>
              <a:ext cx="820800" cy="3327480"/>
            </a:xfrm>
            <a:custGeom>
              <a:avLst/>
              <a:gdLst>
                <a:gd name="textAreaLeft" fmla="*/ 0 w 820800"/>
                <a:gd name="textAreaRight" fmla="*/ 821880 w 820800"/>
                <a:gd name="textAreaTop" fmla="*/ 0 h 3327480"/>
                <a:gd name="textAreaBottom" fmla="*/ 3328560 h 332748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5" name="Freeform 16"/>
            <p:cNvSpPr/>
            <p:nvPr/>
          </p:nvSpPr>
          <p:spPr>
            <a:xfrm>
              <a:off x="22320" y="228600"/>
              <a:ext cx="105120" cy="2926800"/>
            </a:xfrm>
            <a:custGeom>
              <a:avLst/>
              <a:gdLst>
                <a:gd name="textAreaLeft" fmla="*/ 0 w 105120"/>
                <a:gd name="textAreaRight" fmla="*/ 106200 w 105120"/>
                <a:gd name="textAreaTop" fmla="*/ 0 h 2926800"/>
                <a:gd name="textAreaBottom" fmla="*/ 2927880 h 292680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6" name="Freeform 17"/>
            <p:cNvSpPr/>
            <p:nvPr/>
          </p:nvSpPr>
          <p:spPr>
            <a:xfrm>
              <a:off x="78120" y="2944080"/>
              <a:ext cx="77040" cy="492840"/>
            </a:xfrm>
            <a:custGeom>
              <a:avLst/>
              <a:gdLst>
                <a:gd name="textAreaLeft" fmla="*/ 0 w 77040"/>
                <a:gd name="textAreaRight" fmla="*/ 78120 w 77040"/>
                <a:gd name="textAreaTop" fmla="*/ 0 h 492840"/>
                <a:gd name="textAreaBottom" fmla="*/ 493920 h 49284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7" name="Freeform 18"/>
            <p:cNvSpPr/>
            <p:nvPr/>
          </p:nvSpPr>
          <p:spPr>
            <a:xfrm>
              <a:off x="769680" y="5478840"/>
              <a:ext cx="189000" cy="1023840"/>
            </a:xfrm>
            <a:custGeom>
              <a:avLst/>
              <a:gdLst>
                <a:gd name="textAreaLeft" fmla="*/ 0 w 189000"/>
                <a:gd name="textAreaRight" fmla="*/ 190080 w 189000"/>
                <a:gd name="textAreaTop" fmla="*/ 0 h 1023840"/>
                <a:gd name="textAreaBottom" fmla="*/ 1024920 h 102384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8" name="Freeform 19"/>
            <p:cNvSpPr/>
            <p:nvPr/>
          </p:nvSpPr>
          <p:spPr>
            <a:xfrm>
              <a:off x="775440" y="1398960"/>
              <a:ext cx="2075040" cy="4047120"/>
            </a:xfrm>
            <a:custGeom>
              <a:avLst/>
              <a:gdLst>
                <a:gd name="textAreaLeft" fmla="*/ 0 w 2075040"/>
                <a:gd name="textAreaRight" fmla="*/ 2076120 w 2075040"/>
                <a:gd name="textAreaTop" fmla="*/ 0 h 4047120"/>
                <a:gd name="textAreaBottom" fmla="*/ 4048200 h 404712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9" name="Freeform 20"/>
            <p:cNvSpPr/>
            <p:nvPr/>
          </p:nvSpPr>
          <p:spPr>
            <a:xfrm>
              <a:off x="922680" y="6530040"/>
              <a:ext cx="160920" cy="33624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336240"/>
                <a:gd name="textAreaBottom" fmla="*/ 337320 h 33624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0" name="Freeform 21"/>
            <p:cNvSpPr/>
            <p:nvPr/>
          </p:nvSpPr>
          <p:spPr>
            <a:xfrm>
              <a:off x="769680" y="5359320"/>
              <a:ext cx="36360" cy="220680"/>
            </a:xfrm>
            <a:custGeom>
              <a:avLst/>
              <a:gdLst>
                <a:gd name="textAreaLeft" fmla="*/ 0 w 36360"/>
                <a:gd name="textAreaRight" fmla="*/ 37440 w 36360"/>
                <a:gd name="textAreaTop" fmla="*/ 0 h 220680"/>
                <a:gd name="textAreaBottom" fmla="*/ 221760 h 22068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1" name="Freeform 22"/>
            <p:cNvSpPr/>
            <p:nvPr/>
          </p:nvSpPr>
          <p:spPr>
            <a:xfrm>
              <a:off x="849960" y="6244560"/>
              <a:ext cx="237600" cy="621360"/>
            </a:xfrm>
            <a:custGeom>
              <a:avLst/>
              <a:gdLst>
                <a:gd name="textAreaLeft" fmla="*/ 0 w 237600"/>
                <a:gd name="textAreaRight" fmla="*/ 238680 w 237600"/>
                <a:gd name="textAreaTop" fmla="*/ 0 h 621360"/>
                <a:gd name="textAreaBottom" fmla="*/ 622440 h 62136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82" name="Group 9"/>
          <p:cNvGrpSpPr/>
          <p:nvPr/>
        </p:nvGrpSpPr>
        <p:grpSpPr>
          <a:xfrm>
            <a:off x="27360" y="-720"/>
            <a:ext cx="2355480" cy="6852960"/>
            <a:chOff x="27360" y="-720"/>
            <a:chExt cx="2355480" cy="6852960"/>
          </a:xfrm>
        </p:grpSpPr>
        <p:sp>
          <p:nvSpPr>
            <p:cNvPr id="83" name="Freeform 27"/>
            <p:cNvSpPr/>
            <p:nvPr/>
          </p:nvSpPr>
          <p:spPr>
            <a:xfrm>
              <a:off x="27360" y="-720"/>
              <a:ext cx="493200" cy="4399920"/>
            </a:xfrm>
            <a:custGeom>
              <a:avLst/>
              <a:gdLst>
                <a:gd name="textAreaLeft" fmla="*/ 0 w 493200"/>
                <a:gd name="textAreaRight" fmla="*/ 494280 w 493200"/>
                <a:gd name="textAreaTop" fmla="*/ 0 h 4399920"/>
                <a:gd name="textAreaBottom" fmla="*/ 4401000 h 439992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4" name="Freeform 28"/>
            <p:cNvSpPr/>
            <p:nvPr/>
          </p:nvSpPr>
          <p:spPr>
            <a:xfrm>
              <a:off x="550440" y="4316400"/>
              <a:ext cx="422280" cy="1579680"/>
            </a:xfrm>
            <a:custGeom>
              <a:avLst/>
              <a:gdLst>
                <a:gd name="textAreaLeft" fmla="*/ 0 w 422280"/>
                <a:gd name="textAreaRight" fmla="*/ 423360 w 422280"/>
                <a:gd name="textAreaTop" fmla="*/ 0 h 1579680"/>
                <a:gd name="textAreaBottom" fmla="*/ 1580760 h 157968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5" name="Freeform 29"/>
            <p:cNvSpPr/>
            <p:nvPr/>
          </p:nvSpPr>
          <p:spPr>
            <a:xfrm>
              <a:off x="1006200" y="5862600"/>
              <a:ext cx="429840" cy="989640"/>
            </a:xfrm>
            <a:custGeom>
              <a:avLst/>
              <a:gdLst>
                <a:gd name="textAreaLeft" fmla="*/ 0 w 429840"/>
                <a:gd name="textAreaRight" fmla="*/ 430920 w 429840"/>
                <a:gd name="textAreaTop" fmla="*/ 0 h 989640"/>
                <a:gd name="textAreaBottom" fmla="*/ 990720 h 98964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6" name="Freeform 30"/>
            <p:cNvSpPr/>
            <p:nvPr/>
          </p:nvSpPr>
          <p:spPr>
            <a:xfrm>
              <a:off x="521640" y="4364280"/>
              <a:ext cx="550800" cy="2234880"/>
            </a:xfrm>
            <a:custGeom>
              <a:avLst/>
              <a:gdLst>
                <a:gd name="textAreaLeft" fmla="*/ 0 w 550800"/>
                <a:gd name="textAreaRight" fmla="*/ 551880 w 550800"/>
                <a:gd name="textAreaTop" fmla="*/ 0 h 2234880"/>
                <a:gd name="textAreaBottom" fmla="*/ 2235960 h 223488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7" name="Freeform 31"/>
            <p:cNvSpPr/>
            <p:nvPr/>
          </p:nvSpPr>
          <p:spPr>
            <a:xfrm>
              <a:off x="468000" y="1289160"/>
              <a:ext cx="173160" cy="3026160"/>
            </a:xfrm>
            <a:custGeom>
              <a:avLst/>
              <a:gdLst>
                <a:gd name="textAreaLeft" fmla="*/ 0 w 173160"/>
                <a:gd name="textAreaRight" fmla="*/ 174240 w 173160"/>
                <a:gd name="textAreaTop" fmla="*/ 0 h 3026160"/>
                <a:gd name="textAreaBottom" fmla="*/ 3027240 h 302616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8" name="Freeform 32"/>
            <p:cNvSpPr/>
            <p:nvPr/>
          </p:nvSpPr>
          <p:spPr>
            <a:xfrm>
              <a:off x="1111680" y="6571440"/>
              <a:ext cx="133200" cy="280440"/>
            </a:xfrm>
            <a:custGeom>
              <a:avLst/>
              <a:gdLst>
                <a:gd name="textAreaLeft" fmla="*/ 0 w 133200"/>
                <a:gd name="textAreaRight" fmla="*/ 134280 w 133200"/>
                <a:gd name="textAreaTop" fmla="*/ 0 h 280440"/>
                <a:gd name="textAreaBottom" fmla="*/ 281520 h 28044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9" name="Freeform 33"/>
            <p:cNvSpPr/>
            <p:nvPr/>
          </p:nvSpPr>
          <p:spPr>
            <a:xfrm>
              <a:off x="502560" y="4107600"/>
              <a:ext cx="81360" cy="510480"/>
            </a:xfrm>
            <a:custGeom>
              <a:avLst/>
              <a:gdLst>
                <a:gd name="textAreaLeft" fmla="*/ 0 w 81360"/>
                <a:gd name="textAreaRight" fmla="*/ 82440 w 81360"/>
                <a:gd name="textAreaTop" fmla="*/ 0 h 510480"/>
                <a:gd name="textAreaBottom" fmla="*/ 511560 h 51048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0" name="Freeform 34"/>
            <p:cNvSpPr/>
            <p:nvPr/>
          </p:nvSpPr>
          <p:spPr>
            <a:xfrm>
              <a:off x="973800" y="3145680"/>
              <a:ext cx="1409040" cy="2715840"/>
            </a:xfrm>
            <a:custGeom>
              <a:avLst/>
              <a:gdLst>
                <a:gd name="textAreaLeft" fmla="*/ 0 w 1409040"/>
                <a:gd name="textAreaRight" fmla="*/ 1410120 w 1409040"/>
                <a:gd name="textAreaTop" fmla="*/ 0 h 2715840"/>
                <a:gd name="textAreaBottom" fmla="*/ 2716920 h 271584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1" name="Freeform 35"/>
            <p:cNvSpPr/>
            <p:nvPr/>
          </p:nvSpPr>
          <p:spPr>
            <a:xfrm>
              <a:off x="1073520" y="6600240"/>
              <a:ext cx="119520" cy="252000"/>
            </a:xfrm>
            <a:custGeom>
              <a:avLst/>
              <a:gdLst>
                <a:gd name="textAreaLeft" fmla="*/ 0 w 119520"/>
                <a:gd name="textAreaRight" fmla="*/ 120600 w 119520"/>
                <a:gd name="textAreaTop" fmla="*/ 0 h 252000"/>
                <a:gd name="textAreaBottom" fmla="*/ 253080 h 25200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2" name="Freeform 36"/>
            <p:cNvSpPr/>
            <p:nvPr/>
          </p:nvSpPr>
          <p:spPr>
            <a:xfrm>
              <a:off x="973800" y="5897160"/>
              <a:ext cx="136800" cy="673200"/>
            </a:xfrm>
            <a:custGeom>
              <a:avLst/>
              <a:gdLst>
                <a:gd name="textAreaLeft" fmla="*/ 0 w 136800"/>
                <a:gd name="textAreaRight" fmla="*/ 137880 w 136800"/>
                <a:gd name="textAreaTop" fmla="*/ 0 h 673200"/>
                <a:gd name="textAreaBottom" fmla="*/ 674280 h 67320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3" name="Freeform 37"/>
            <p:cNvSpPr/>
            <p:nvPr/>
          </p:nvSpPr>
          <p:spPr>
            <a:xfrm>
              <a:off x="973800" y="5772600"/>
              <a:ext cx="37080" cy="226800"/>
            </a:xfrm>
            <a:custGeom>
              <a:avLst/>
              <a:gdLst>
                <a:gd name="textAreaLeft" fmla="*/ 0 w 37080"/>
                <a:gd name="textAreaRight" fmla="*/ 38160 w 37080"/>
                <a:gd name="textAreaTop" fmla="*/ 0 h 226800"/>
                <a:gd name="textAreaBottom" fmla="*/ 227880 h 2268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4" name="Freeform 38"/>
            <p:cNvSpPr/>
            <p:nvPr/>
          </p:nvSpPr>
          <p:spPr>
            <a:xfrm>
              <a:off x="1006200" y="6322680"/>
              <a:ext cx="209520" cy="529560"/>
            </a:xfrm>
            <a:custGeom>
              <a:avLst/>
              <a:gdLst>
                <a:gd name="textAreaLeft" fmla="*/ 0 w 209520"/>
                <a:gd name="textAreaRight" fmla="*/ 210600 w 209520"/>
                <a:gd name="textAreaTop" fmla="*/ 0 h 529560"/>
                <a:gd name="textAreaBottom" fmla="*/ 530640 h 52956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95" name="Rectangle 6"/>
          <p:cNvSpPr/>
          <p:nvPr/>
        </p:nvSpPr>
        <p:spPr>
          <a:xfrm>
            <a:off x="0" y="0"/>
            <a:ext cx="181800" cy="685692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st="2556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6" name="Freeform 11"/>
          <p:cNvSpPr/>
          <p:nvPr/>
        </p:nvSpPr>
        <p:spPr>
          <a:xfrm flipV="1">
            <a:off x="-3240" y="712440"/>
            <a:ext cx="1587600" cy="506160"/>
          </a:xfrm>
          <a:custGeom>
            <a:avLst/>
            <a:gdLst>
              <a:gd name="textAreaLeft" fmla="*/ 0 w 1587600"/>
              <a:gd name="textAreaRight" fmla="*/ 1588680 w 1587600"/>
              <a:gd name="textAreaTop" fmla="*/ 720 h 506160"/>
              <a:gd name="textAreaBottom" fmla="*/ 507960 h 50616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7" name="PlaceHolder 1"/>
          <p:cNvSpPr>
            <a:spLocks noGrp="1"/>
          </p:cNvSpPr>
          <p:nvPr>
            <p:ph type="ftr" idx="4"/>
          </p:nvPr>
        </p:nvSpPr>
        <p:spPr>
          <a:xfrm>
            <a:off x="2589120" y="6135840"/>
            <a:ext cx="761904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98" name="PlaceHolder 2"/>
          <p:cNvSpPr>
            <a:spLocks noGrp="1"/>
          </p:cNvSpPr>
          <p:nvPr>
            <p:ph type="sldNum" idx="5"/>
          </p:nvPr>
        </p:nvSpPr>
        <p:spPr>
          <a:xfrm>
            <a:off x="531720" y="787680"/>
            <a:ext cx="77868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2000" b="0" strike="noStrike" spc="-1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2B921F0-62C1-4466-A024-9DBCE0C61CEA}" type="slidenum">
              <a:rPr lang="en-US" sz="2000" b="0" strike="noStrike" spc="-1">
                <a:solidFill>
                  <a:srgbClr val="FEFFFF"/>
                </a:solidFill>
                <a:latin typeface="Century Gothic"/>
              </a:rPr>
              <a:t>‹#›</a:t>
            </a:fld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dt" idx="6"/>
          </p:nvPr>
        </p:nvSpPr>
        <p:spPr>
          <a:xfrm>
            <a:off x="10361520" y="6130440"/>
            <a:ext cx="1145160" cy="36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10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0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kernel.org/doc/html/v4.9/media/uapi/v4l/user-func.html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320" cy="226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400" b="0" strike="noStrike" spc="-1">
                <a:solidFill>
                  <a:srgbClr val="262626"/>
                </a:solidFill>
                <a:latin typeface="Century Gothic"/>
              </a:rPr>
              <a:t>An introduction to </a:t>
            </a:r>
            <a:r>
              <a:rPr lang="en-US" sz="5400" b="1" strike="noStrike" spc="-1">
                <a:solidFill>
                  <a:srgbClr val="262626"/>
                </a:solidFill>
                <a:latin typeface="Consolas"/>
              </a:rPr>
              <a:t>v4l2</a:t>
            </a:r>
            <a:br>
              <a:rPr sz="5400"/>
            </a:br>
            <a:r>
              <a:rPr lang="en-US" sz="1800" b="0" strike="noStrike" spc="-1">
                <a:solidFill>
                  <a:srgbClr val="262626"/>
                </a:solidFill>
                <a:latin typeface="Consolas"/>
              </a:rPr>
              <a:t>(video capture)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subTitle"/>
          </p:nvPr>
        </p:nvSpPr>
        <p:spPr>
          <a:xfrm>
            <a:off x="2589120" y="4777200"/>
            <a:ext cx="8914320" cy="112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rgbClr val="595959"/>
                </a:solidFill>
                <a:latin typeface="Century Gothic"/>
              </a:rPr>
              <a:t>By Arash Golgol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0720" cy="1279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rgbClr val="262626"/>
                </a:solidFill>
                <a:latin typeface="Century Gothic"/>
              </a:rPr>
              <a:t>Agenda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2589120" y="2133720"/>
            <a:ext cx="8914320" cy="3776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Symbol"/>
              <a:buChar char=""/>
            </a:pPr>
            <a:r>
              <a:rPr lang="en-US" sz="1800" b="0" strike="noStrike" spc="-1">
                <a:solidFill>
                  <a:srgbClr val="404040"/>
                </a:solidFill>
                <a:latin typeface="Century Gothic"/>
              </a:rPr>
              <a:t>Overview 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Symbol"/>
              <a:buChar char=""/>
            </a:pPr>
            <a:r>
              <a:rPr lang="en-US" sz="1800" b="0" strike="noStrike" spc="-1">
                <a:solidFill>
                  <a:srgbClr val="404040"/>
                </a:solidFill>
                <a:latin typeface="Century Gothic"/>
              </a:rPr>
              <a:t>You already knew it!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Symbol"/>
              <a:buChar char=""/>
            </a:pPr>
            <a:r>
              <a:rPr lang="en-US" sz="1800" b="0" strike="noStrike" spc="-1">
                <a:solidFill>
                  <a:srgbClr val="404040"/>
                </a:solidFill>
                <a:latin typeface="Century Gothic"/>
              </a:rPr>
              <a:t>Not this way!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Symbol"/>
              <a:buChar char=""/>
            </a:pPr>
            <a:r>
              <a:rPr lang="en-US" sz="1800" b="0" strike="noStrike" spc="-1">
                <a:solidFill>
                  <a:srgbClr val="404040"/>
                </a:solidFill>
                <a:latin typeface="Century Gothic"/>
              </a:rPr>
              <a:t>System view 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Symbol"/>
              <a:buChar char=""/>
            </a:pPr>
            <a:r>
              <a:rPr lang="en-US" sz="1800" b="0" strike="noStrike" spc="-1">
                <a:solidFill>
                  <a:srgbClr val="404040"/>
                </a:solidFill>
                <a:latin typeface="Century Gothic"/>
              </a:rPr>
              <a:t>Capture buffers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Symbol"/>
              <a:buChar char=""/>
            </a:pPr>
            <a:r>
              <a:rPr lang="en-US" sz="1800" b="1" strike="noStrike" spc="-1">
                <a:solidFill>
                  <a:srgbClr val="404040"/>
                </a:solidFill>
                <a:latin typeface="Consolas"/>
              </a:rPr>
              <a:t>v4l2-ctl </a:t>
            </a:r>
            <a:r>
              <a:rPr lang="en-US" sz="1800" b="0" strike="noStrike" spc="-1">
                <a:solidFill>
                  <a:srgbClr val="404040"/>
                </a:solidFill>
                <a:latin typeface="Century Gothic"/>
              </a:rPr>
              <a:t>example 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Symbol"/>
              <a:buChar char=""/>
            </a:pPr>
            <a:r>
              <a:rPr lang="en-US" sz="1800" b="0" strike="noStrike" spc="-1">
                <a:solidFill>
                  <a:srgbClr val="404040"/>
                </a:solidFill>
                <a:latin typeface="Century Gothic"/>
              </a:rPr>
              <a:t>Next session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6B4348B8-AC24-47E8-9576-E2F839EC07E0}" type="slidenum"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0720" cy="1279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rgbClr val="262626"/>
                </a:solidFill>
                <a:latin typeface="Century Gothic"/>
              </a:rPr>
              <a:t>Overview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2589120" y="2133720"/>
            <a:ext cx="4905720" cy="3776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1" strike="noStrike" spc="-1">
                <a:solidFill>
                  <a:srgbClr val="404040"/>
                </a:solidFill>
                <a:latin typeface="Consolas"/>
              </a:rPr>
              <a:t>v4l2</a:t>
            </a:r>
            <a:r>
              <a:rPr lang="en-US" sz="1800" b="0" strike="noStrike" spc="-1">
                <a:solidFill>
                  <a:srgbClr val="404040"/>
                </a:solidFill>
                <a:latin typeface="Century Gothic"/>
              </a:rPr>
              <a:t> stands for </a:t>
            </a:r>
            <a:r>
              <a:rPr lang="en-US" sz="1800" b="1" strike="noStrike" spc="-1">
                <a:solidFill>
                  <a:srgbClr val="404040"/>
                </a:solidFill>
                <a:latin typeface="Century Gothic"/>
              </a:rPr>
              <a:t>V</a:t>
            </a:r>
            <a:r>
              <a:rPr lang="en-US" sz="1800" b="0" strike="noStrike" spc="-1">
                <a:solidFill>
                  <a:srgbClr val="404040"/>
                </a:solidFill>
                <a:latin typeface="Century Gothic"/>
              </a:rPr>
              <a:t>ideo </a:t>
            </a:r>
            <a:r>
              <a:rPr lang="en-US" sz="1800" b="1" strike="noStrike" spc="-1">
                <a:solidFill>
                  <a:srgbClr val="404040"/>
                </a:solidFill>
                <a:latin typeface="Century Gothic"/>
              </a:rPr>
              <a:t>F</a:t>
            </a:r>
            <a:r>
              <a:rPr lang="en-US" sz="1800" b="0" strike="noStrike" spc="-1">
                <a:solidFill>
                  <a:srgbClr val="404040"/>
                </a:solidFill>
                <a:latin typeface="Century Gothic"/>
              </a:rPr>
              <a:t>or </a:t>
            </a:r>
            <a:r>
              <a:rPr lang="en-US" sz="1800" b="1" strike="noStrike" spc="-1">
                <a:solidFill>
                  <a:srgbClr val="404040"/>
                </a:solidFill>
                <a:latin typeface="Century Gothic"/>
              </a:rPr>
              <a:t>L</a:t>
            </a:r>
            <a:r>
              <a:rPr lang="en-US" sz="1800" b="0" strike="noStrike" spc="-1">
                <a:solidFill>
                  <a:srgbClr val="404040"/>
                </a:solidFill>
                <a:latin typeface="Century Gothic"/>
              </a:rPr>
              <a:t>inux </a:t>
            </a:r>
            <a:r>
              <a:rPr lang="en-US" sz="1800" b="1" strike="noStrike" spc="-1">
                <a:solidFill>
                  <a:srgbClr val="404040"/>
                </a:solidFill>
                <a:latin typeface="Century Gothic"/>
              </a:rPr>
              <a:t>2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404040"/>
                </a:solidFill>
                <a:latin typeface="Century Gothic"/>
              </a:rPr>
              <a:t>It’s Linux kernel framework which abstract media streaming devices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404040"/>
                </a:solidFill>
                <a:latin typeface="Century Gothic"/>
              </a:rPr>
              <a:t>Camera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404040"/>
                </a:solidFill>
                <a:latin typeface="Century Gothic"/>
              </a:rPr>
              <a:t>Image Signal Processor (ISP)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404040"/>
                </a:solidFill>
                <a:latin typeface="Century Gothic"/>
              </a:rPr>
              <a:t>Video codec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404040"/>
                </a:solidFill>
                <a:latin typeface="Century Gothic"/>
              </a:rPr>
              <a:t>TV tuner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404040"/>
                </a:solidFill>
                <a:latin typeface="Century Gothic"/>
              </a:rPr>
              <a:t>…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404040"/>
                </a:solidFill>
                <a:latin typeface="Century Gothic"/>
              </a:rPr>
              <a:t>It abstract these device through Linux standard interfaces (syscall)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0" name="Picture 5"/>
          <p:cNvPicPr/>
          <p:nvPr/>
        </p:nvPicPr>
        <p:blipFill>
          <a:blip r:embed="rId3"/>
          <a:srcRect l="11248" t="9101" r="9857" b="13798"/>
          <a:stretch/>
        </p:blipFill>
        <p:spPr>
          <a:xfrm>
            <a:off x="8873280" y="1264680"/>
            <a:ext cx="2001600" cy="1956240"/>
          </a:xfrm>
          <a:prstGeom prst="rect">
            <a:avLst/>
          </a:prstGeom>
          <a:ln w="0">
            <a:noFill/>
          </a:ln>
        </p:spPr>
      </p:pic>
      <p:pic>
        <p:nvPicPr>
          <p:cNvPr id="151" name="Picture 7"/>
          <p:cNvPicPr/>
          <p:nvPr/>
        </p:nvPicPr>
        <p:blipFill>
          <a:blip r:embed="rId4"/>
          <a:stretch/>
        </p:blipFill>
        <p:spPr>
          <a:xfrm>
            <a:off x="7557120" y="3429000"/>
            <a:ext cx="4633560" cy="33850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3D72E60-42D4-4686-9EAC-E1D98AF7CDE9}" type="slidenum"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0720" cy="1279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rgbClr val="262626"/>
                </a:solidFill>
                <a:latin typeface="Century Gothic"/>
              </a:rPr>
              <a:t>You already knew it!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2589120" y="2133720"/>
            <a:ext cx="5362920" cy="3776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Symbol"/>
              <a:buChar char=""/>
            </a:pPr>
            <a:r>
              <a:rPr lang="en-US" sz="1800" b="1" strike="noStrike" spc="-1">
                <a:solidFill>
                  <a:srgbClr val="404040"/>
                </a:solidFill>
                <a:latin typeface="Consolas"/>
              </a:rPr>
              <a:t>v4l2</a:t>
            </a:r>
            <a:r>
              <a:rPr lang="en-US" sz="1800" b="0" strike="noStrike" spc="-1">
                <a:solidFill>
                  <a:srgbClr val="404040"/>
                </a:solidFill>
                <a:latin typeface="Century Gothic"/>
              </a:rPr>
              <a:t> is a little complicated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Symbol"/>
              <a:buChar char=""/>
            </a:pPr>
            <a:r>
              <a:rPr lang="en-US" sz="1800" b="0" strike="noStrike" spc="-1">
                <a:solidFill>
                  <a:srgbClr val="404040"/>
                </a:solidFill>
                <a:latin typeface="Century Gothic"/>
              </a:rPr>
              <a:t>Because media devices are complicated!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Symbol"/>
              <a:buChar char=""/>
            </a:pPr>
            <a:r>
              <a:rPr lang="en-US" sz="1800" b="0" strike="noStrike" spc="-1">
                <a:solidFill>
                  <a:srgbClr val="404040"/>
                </a:solidFill>
                <a:latin typeface="Century Gothic"/>
              </a:rPr>
              <a:t>But all Linux kernel concepts still stands!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4" name="Picture 3"/>
          <p:cNvPicPr/>
          <p:nvPr/>
        </p:nvPicPr>
        <p:blipFill>
          <a:blip r:embed="rId3"/>
          <a:stretch/>
        </p:blipFill>
        <p:spPr>
          <a:xfrm>
            <a:off x="7953480" y="2045880"/>
            <a:ext cx="3485520" cy="395172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76C2BD6E-C5A0-4C65-AFF4-6A28D67A3507}" type="slidenum"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0720" cy="1279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rgbClr val="262626"/>
                </a:solidFill>
                <a:latin typeface="Century Gothic"/>
              </a:rPr>
              <a:t>Not this way …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6" name="Picture 5"/>
          <p:cNvPicPr/>
          <p:nvPr/>
        </p:nvPicPr>
        <p:blipFill>
          <a:blip r:embed="rId3"/>
          <a:stretch/>
        </p:blipFill>
        <p:spPr>
          <a:xfrm>
            <a:off x="2771640" y="1588680"/>
            <a:ext cx="8818920" cy="49086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4D45EA1-EC73-478E-B32E-9016F7BAD4B3}" type="slidenum"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0720" cy="1279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rgbClr val="262626"/>
                </a:solidFill>
                <a:latin typeface="Century Gothic"/>
              </a:rPr>
              <a:t>The problem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2589120" y="2133720"/>
            <a:ext cx="3020040" cy="3776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Symbol"/>
              <a:buChar char=""/>
            </a:pPr>
            <a:r>
              <a:rPr lang="en-US" sz="1800" b="0" strike="noStrike" spc="-1">
                <a:solidFill>
                  <a:srgbClr val="404040"/>
                </a:solidFill>
                <a:latin typeface="Century Gothic"/>
              </a:rPr>
              <a:t>Taking a picture (frame) from camera module 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9" name="Picture 3"/>
          <p:cNvPicPr/>
          <p:nvPr/>
        </p:nvPicPr>
        <p:blipFill>
          <a:blip r:embed="rId3"/>
          <a:srcRect l="10265" t="7360" r="8560" b="9099"/>
          <a:stretch/>
        </p:blipFill>
        <p:spPr>
          <a:xfrm>
            <a:off x="7467840" y="0"/>
            <a:ext cx="4722840" cy="3776400"/>
          </a:xfrm>
          <a:prstGeom prst="rect">
            <a:avLst/>
          </a:prstGeom>
          <a:ln w="0">
            <a:noFill/>
          </a:ln>
        </p:spPr>
      </p:pic>
      <p:pic>
        <p:nvPicPr>
          <p:cNvPr id="160" name="Picture 4"/>
          <p:cNvPicPr/>
          <p:nvPr/>
        </p:nvPicPr>
        <p:blipFill>
          <a:blip r:embed="rId4"/>
          <a:stretch/>
        </p:blipFill>
        <p:spPr>
          <a:xfrm>
            <a:off x="5442840" y="3850560"/>
            <a:ext cx="6748200" cy="299016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754C86B-870A-4107-8C7A-9A83DD3872AD}" type="slidenum"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0720" cy="1279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rgbClr val="262626"/>
                </a:solidFill>
                <a:latin typeface="Century Gothic"/>
              </a:rPr>
              <a:t>System view (HW)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" name="Picture 3"/>
          <p:cNvPicPr/>
          <p:nvPr/>
        </p:nvPicPr>
        <p:blipFill>
          <a:blip r:embed="rId3"/>
          <a:srcRect l="32998" t="19574" r="32998" b="27762"/>
          <a:stretch/>
        </p:blipFill>
        <p:spPr>
          <a:xfrm rot="5400000">
            <a:off x="9950760" y="2635920"/>
            <a:ext cx="1603800" cy="1656360"/>
          </a:xfrm>
          <a:prstGeom prst="rect">
            <a:avLst/>
          </a:prstGeom>
          <a:ln w="0">
            <a:noFill/>
          </a:ln>
        </p:spPr>
      </p:pic>
      <p:sp>
        <p:nvSpPr>
          <p:cNvPr id="163" name="Rectangle 4"/>
          <p:cNvSpPr/>
          <p:nvPr/>
        </p:nvSpPr>
        <p:spPr>
          <a:xfrm>
            <a:off x="2457360" y="1905120"/>
            <a:ext cx="4904640" cy="3870720"/>
          </a:xfrm>
          <a:prstGeom prst="rect">
            <a:avLst/>
          </a:prstGeom>
          <a:noFill/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entury Gothic"/>
              <a:ea typeface="DejaVu Sans"/>
            </a:endParaRPr>
          </a:p>
        </p:txBody>
      </p:sp>
      <p:sp>
        <p:nvSpPr>
          <p:cNvPr id="164" name="TextBox 2"/>
          <p:cNvSpPr/>
          <p:nvPr/>
        </p:nvSpPr>
        <p:spPr>
          <a:xfrm>
            <a:off x="2436480" y="5757840"/>
            <a:ext cx="83196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000000"/>
                </a:solidFill>
                <a:latin typeface="Century Gothic"/>
                <a:ea typeface="DejaVu Sans"/>
              </a:rPr>
              <a:t>SoC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Arrow: Left 5"/>
          <p:cNvSpPr/>
          <p:nvPr/>
        </p:nvSpPr>
        <p:spPr>
          <a:xfrm>
            <a:off x="7363080" y="2626560"/>
            <a:ext cx="2370240" cy="16038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5">
              <a:lumMod val="60000"/>
              <a:lumOff val="40000"/>
            </a:schemeClr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strike="noStrike" spc="-1">
                <a:solidFill>
                  <a:srgbClr val="000000"/>
                </a:solidFill>
                <a:latin typeface="Century Gothic"/>
                <a:ea typeface="DejaVu Sans"/>
              </a:rPr>
              <a:t>Stream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Rectangle 9"/>
          <p:cNvSpPr/>
          <p:nvPr/>
        </p:nvSpPr>
        <p:spPr>
          <a:xfrm>
            <a:off x="4268520" y="2276640"/>
            <a:ext cx="1294560" cy="1749600"/>
          </a:xfrm>
          <a:prstGeom prst="rect">
            <a:avLst/>
          </a:prstGeom>
          <a:solidFill>
            <a:srgbClr val="00B05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Image Signal Processor 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(ISP)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Rectangle 10"/>
          <p:cNvSpPr/>
          <p:nvPr/>
        </p:nvSpPr>
        <p:spPr>
          <a:xfrm>
            <a:off x="5753160" y="4396320"/>
            <a:ext cx="1294560" cy="1046880"/>
          </a:xfrm>
          <a:prstGeom prst="rect">
            <a:avLst/>
          </a:prstGeom>
          <a:solidFill>
            <a:srgbClr val="FFC00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I</a:t>
            </a:r>
            <a:r>
              <a:rPr lang="en-US" sz="1800" b="0" strike="noStrike" spc="-1" baseline="30000">
                <a:solidFill>
                  <a:srgbClr val="000000"/>
                </a:solidFill>
                <a:latin typeface="Century Gothic"/>
                <a:ea typeface="DejaVu Sans"/>
              </a:rPr>
              <a:t>2</a:t>
            </a: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C 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master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Arrow: Left-Up 12"/>
          <p:cNvSpPr/>
          <p:nvPr/>
        </p:nvSpPr>
        <p:spPr>
          <a:xfrm>
            <a:off x="7363080" y="4267080"/>
            <a:ext cx="3616560" cy="756000"/>
          </a:xfrm>
          <a:prstGeom prst="leftUpArrow">
            <a:avLst>
              <a:gd name="adj1" fmla="val 25000"/>
              <a:gd name="adj2" fmla="val 25000"/>
              <a:gd name="adj3" fmla="val 25000"/>
            </a:avLst>
          </a:prstGeom>
          <a:solidFill>
            <a:srgbClr val="00B0F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Century Gothic"/>
                <a:ea typeface="DejaVu Sans"/>
              </a:rPr>
              <a:t>configuration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Rectangle 13"/>
          <p:cNvSpPr/>
          <p:nvPr/>
        </p:nvSpPr>
        <p:spPr>
          <a:xfrm>
            <a:off x="5753160" y="2276640"/>
            <a:ext cx="1294560" cy="1749600"/>
          </a:xfrm>
          <a:prstGeom prst="rect">
            <a:avLst/>
          </a:prstGeom>
          <a:solidFill>
            <a:srgbClr val="7030A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Image Capture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Rectangle 14"/>
          <p:cNvSpPr/>
          <p:nvPr/>
        </p:nvSpPr>
        <p:spPr>
          <a:xfrm>
            <a:off x="4268520" y="4396320"/>
            <a:ext cx="1294560" cy="1046880"/>
          </a:xfrm>
          <a:prstGeom prst="rect">
            <a:avLst/>
          </a:prstGeom>
          <a:solidFill>
            <a:srgbClr val="FFFF0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DMA engines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Rectangle 15"/>
          <p:cNvSpPr/>
          <p:nvPr/>
        </p:nvSpPr>
        <p:spPr>
          <a:xfrm>
            <a:off x="2783880" y="2276640"/>
            <a:ext cx="1294560" cy="174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CPUs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Rectangle 16"/>
          <p:cNvSpPr/>
          <p:nvPr/>
        </p:nvSpPr>
        <p:spPr>
          <a:xfrm>
            <a:off x="2783880" y="4396320"/>
            <a:ext cx="1294560" cy="1046880"/>
          </a:xfrm>
          <a:prstGeom prst="rect">
            <a:avLst/>
          </a:prstGeom>
          <a:solidFill>
            <a:schemeClr val="accent6">
              <a:lumMod val="75000"/>
            </a:schemeClr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Memory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0467B40-5C85-460A-866B-5931810D5E4F}" type="slidenum"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0720" cy="1279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rgbClr val="262626"/>
                </a:solidFill>
                <a:latin typeface="Century Gothic"/>
              </a:rPr>
              <a:t>System view (Kernel)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4" name="Straight Connector 5"/>
          <p:cNvCxnSpPr/>
          <p:nvPr/>
        </p:nvCxnSpPr>
        <p:spPr>
          <a:xfrm>
            <a:off x="3867120" y="1657080"/>
            <a:ext cx="1080" cy="4894560"/>
          </a:xfrm>
          <a:prstGeom prst="straightConnector1">
            <a:avLst/>
          </a:prstGeom>
          <a:ln w="38100" cap="rnd">
            <a:solidFill>
              <a:srgbClr val="9D2D0F"/>
            </a:solidFill>
            <a:prstDash val="dashDot"/>
            <a:round/>
          </a:ln>
        </p:spPr>
      </p:cxnSp>
      <p:sp>
        <p:nvSpPr>
          <p:cNvPr id="175" name="TextBox 6"/>
          <p:cNvSpPr/>
          <p:nvPr/>
        </p:nvSpPr>
        <p:spPr>
          <a:xfrm>
            <a:off x="6654600" y="6181200"/>
            <a:ext cx="16664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Kernel Space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Box 8"/>
          <p:cNvSpPr/>
          <p:nvPr/>
        </p:nvSpPr>
        <p:spPr>
          <a:xfrm>
            <a:off x="2287440" y="6181200"/>
            <a:ext cx="14688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User Space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7" name="Straight Connector 9"/>
          <p:cNvCxnSpPr/>
          <p:nvPr/>
        </p:nvCxnSpPr>
        <p:spPr>
          <a:xfrm>
            <a:off x="10505880" y="1657080"/>
            <a:ext cx="1080" cy="4894560"/>
          </a:xfrm>
          <a:prstGeom prst="straightConnector1">
            <a:avLst/>
          </a:prstGeom>
          <a:ln w="38100" cap="rnd">
            <a:solidFill>
              <a:srgbClr val="9D2D0F"/>
            </a:solidFill>
            <a:prstDash val="dashDot"/>
            <a:round/>
          </a:ln>
        </p:spPr>
      </p:cxnSp>
      <p:sp>
        <p:nvSpPr>
          <p:cNvPr id="178" name="TextBox 10"/>
          <p:cNvSpPr/>
          <p:nvPr/>
        </p:nvSpPr>
        <p:spPr>
          <a:xfrm>
            <a:off x="10628280" y="6181200"/>
            <a:ext cx="12837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Hardware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Box 11"/>
          <p:cNvSpPr/>
          <p:nvPr/>
        </p:nvSpPr>
        <p:spPr>
          <a:xfrm>
            <a:off x="2097360" y="3489120"/>
            <a:ext cx="16884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onsolas"/>
                <a:ea typeface="DejaVu Sans"/>
              </a:rPr>
              <a:t>/dev/video0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Cloud 12"/>
          <p:cNvSpPr/>
          <p:nvPr/>
        </p:nvSpPr>
        <p:spPr>
          <a:xfrm>
            <a:off x="4172040" y="1570320"/>
            <a:ext cx="6216480" cy="4575600"/>
          </a:xfrm>
          <a:prstGeom prst="cloud">
            <a:avLst/>
          </a:prstGeom>
          <a:solidFill>
            <a:schemeClr val="accent3">
              <a:lumMod val="20000"/>
              <a:lumOff val="80000"/>
            </a:schemeClr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entury Gothic"/>
              <a:ea typeface="DejaVu Sans"/>
            </a:endParaRPr>
          </a:p>
        </p:txBody>
      </p:sp>
      <p:sp>
        <p:nvSpPr>
          <p:cNvPr id="181" name="Rectangle 13"/>
          <p:cNvSpPr/>
          <p:nvPr/>
        </p:nvSpPr>
        <p:spPr>
          <a:xfrm>
            <a:off x="10672920" y="2769120"/>
            <a:ext cx="1294560" cy="673560"/>
          </a:xfrm>
          <a:prstGeom prst="rect">
            <a:avLst/>
          </a:prstGeom>
          <a:solidFill>
            <a:srgbClr val="00B05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ISP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Rectangle 14"/>
          <p:cNvSpPr/>
          <p:nvPr/>
        </p:nvSpPr>
        <p:spPr>
          <a:xfrm>
            <a:off x="10672920" y="4350600"/>
            <a:ext cx="1294560" cy="670680"/>
          </a:xfrm>
          <a:prstGeom prst="rect">
            <a:avLst/>
          </a:prstGeom>
          <a:solidFill>
            <a:srgbClr val="FFC00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I</a:t>
            </a:r>
            <a:r>
              <a:rPr lang="en-US" sz="1800" b="0" strike="noStrike" spc="-1" baseline="30000">
                <a:solidFill>
                  <a:srgbClr val="000000"/>
                </a:solidFill>
                <a:latin typeface="Century Gothic"/>
                <a:ea typeface="DejaVu Sans"/>
              </a:rPr>
              <a:t>2</a:t>
            </a: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C / SPI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master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Rectangle 15"/>
          <p:cNvSpPr/>
          <p:nvPr/>
        </p:nvSpPr>
        <p:spPr>
          <a:xfrm>
            <a:off x="10672920" y="1992240"/>
            <a:ext cx="1294560" cy="673560"/>
          </a:xfrm>
          <a:prstGeom prst="rect">
            <a:avLst/>
          </a:prstGeom>
          <a:solidFill>
            <a:srgbClr val="7030A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Image Capture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Rectangle 16"/>
          <p:cNvSpPr/>
          <p:nvPr/>
        </p:nvSpPr>
        <p:spPr>
          <a:xfrm>
            <a:off x="10672920" y="5123880"/>
            <a:ext cx="1294560" cy="707400"/>
          </a:xfrm>
          <a:prstGeom prst="rect">
            <a:avLst/>
          </a:prstGeom>
          <a:solidFill>
            <a:srgbClr val="FFFF0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DMA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Rectangle 17"/>
          <p:cNvSpPr/>
          <p:nvPr/>
        </p:nvSpPr>
        <p:spPr>
          <a:xfrm>
            <a:off x="10672920" y="3568680"/>
            <a:ext cx="1294560" cy="679320"/>
          </a:xfrm>
          <a:prstGeom prst="rect">
            <a:avLst/>
          </a:prstGeom>
          <a:solidFill>
            <a:schemeClr val="accent6">
              <a:lumMod val="75000"/>
            </a:schemeClr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Memory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Box 18"/>
          <p:cNvSpPr/>
          <p:nvPr/>
        </p:nvSpPr>
        <p:spPr>
          <a:xfrm>
            <a:off x="5112360" y="2077920"/>
            <a:ext cx="66744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0000"/>
                </a:solidFill>
                <a:latin typeface="Consolas"/>
                <a:ea typeface="DejaVu Sans"/>
              </a:rPr>
              <a:t>v4l2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Cloud 19"/>
          <p:cNvSpPr/>
          <p:nvPr/>
        </p:nvSpPr>
        <p:spPr>
          <a:xfrm>
            <a:off x="6109200" y="2588400"/>
            <a:ext cx="1586160" cy="826200"/>
          </a:xfrm>
          <a:prstGeom prst="cloud">
            <a:avLst/>
          </a:prstGeom>
          <a:solidFill>
            <a:srgbClr val="FFC00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onsolas"/>
                <a:ea typeface="DejaVu Sans"/>
              </a:rPr>
              <a:t>subdev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Cloud 20"/>
          <p:cNvSpPr/>
          <p:nvPr/>
        </p:nvSpPr>
        <p:spPr>
          <a:xfrm>
            <a:off x="5198760" y="3904560"/>
            <a:ext cx="1551600" cy="870120"/>
          </a:xfrm>
          <a:prstGeom prst="cloud">
            <a:avLst/>
          </a:prstGeom>
          <a:solidFill>
            <a:srgbClr val="FFFF0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onsolas"/>
                <a:ea typeface="DejaVu Sans"/>
              </a:rPr>
              <a:t>video buffer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Cloud 21"/>
          <p:cNvSpPr/>
          <p:nvPr/>
        </p:nvSpPr>
        <p:spPr>
          <a:xfrm>
            <a:off x="7204680" y="3673800"/>
            <a:ext cx="1551600" cy="870120"/>
          </a:xfrm>
          <a:prstGeom prst="cloud">
            <a:avLst/>
          </a:prstGeom>
          <a:solidFill>
            <a:srgbClr val="7030A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onsolas"/>
                <a:ea typeface="DejaVu Sans"/>
              </a:rPr>
              <a:t>ioctl ops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A3FE5AF-B9B1-4AD6-B5AA-73EFA176B733}" type="slidenum"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0720" cy="1279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rgbClr val="262626"/>
                </a:solidFill>
                <a:latin typeface="Century Gothic"/>
              </a:rPr>
              <a:t>System view (v3s SoC)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91" name="Straight Connector 5"/>
          <p:cNvCxnSpPr/>
          <p:nvPr/>
        </p:nvCxnSpPr>
        <p:spPr>
          <a:xfrm>
            <a:off x="3867120" y="1657080"/>
            <a:ext cx="1080" cy="4894560"/>
          </a:xfrm>
          <a:prstGeom prst="straightConnector1">
            <a:avLst/>
          </a:prstGeom>
          <a:ln w="38100" cap="rnd">
            <a:solidFill>
              <a:srgbClr val="9D2D0F"/>
            </a:solidFill>
            <a:prstDash val="dashDot"/>
            <a:round/>
          </a:ln>
        </p:spPr>
      </p:cxnSp>
      <p:sp>
        <p:nvSpPr>
          <p:cNvPr id="192" name="TextBox 6"/>
          <p:cNvSpPr/>
          <p:nvPr/>
        </p:nvSpPr>
        <p:spPr>
          <a:xfrm>
            <a:off x="6654600" y="6181200"/>
            <a:ext cx="16664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Kernel Space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Box 8"/>
          <p:cNvSpPr/>
          <p:nvPr/>
        </p:nvSpPr>
        <p:spPr>
          <a:xfrm>
            <a:off x="2287440" y="6181200"/>
            <a:ext cx="14688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User Space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94" name="Straight Connector 9"/>
          <p:cNvCxnSpPr/>
          <p:nvPr/>
        </p:nvCxnSpPr>
        <p:spPr>
          <a:xfrm>
            <a:off x="10505880" y="1657080"/>
            <a:ext cx="1080" cy="4894560"/>
          </a:xfrm>
          <a:prstGeom prst="straightConnector1">
            <a:avLst/>
          </a:prstGeom>
          <a:ln w="38100" cap="rnd">
            <a:solidFill>
              <a:srgbClr val="9D2D0F"/>
            </a:solidFill>
            <a:prstDash val="dashDot"/>
            <a:round/>
          </a:ln>
        </p:spPr>
      </p:cxnSp>
      <p:sp>
        <p:nvSpPr>
          <p:cNvPr id="195" name="TextBox 10"/>
          <p:cNvSpPr/>
          <p:nvPr/>
        </p:nvSpPr>
        <p:spPr>
          <a:xfrm>
            <a:off x="10628280" y="6181200"/>
            <a:ext cx="12837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Hardware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Box 11"/>
          <p:cNvSpPr/>
          <p:nvPr/>
        </p:nvSpPr>
        <p:spPr>
          <a:xfrm>
            <a:off x="2097360" y="3489120"/>
            <a:ext cx="16884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onsolas"/>
                <a:ea typeface="DejaVu Sans"/>
              </a:rPr>
              <a:t>/dev/video0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Cloud 12"/>
          <p:cNvSpPr/>
          <p:nvPr/>
        </p:nvSpPr>
        <p:spPr>
          <a:xfrm>
            <a:off x="4172040" y="1570320"/>
            <a:ext cx="6216480" cy="4575600"/>
          </a:xfrm>
          <a:prstGeom prst="cloud">
            <a:avLst/>
          </a:prstGeom>
          <a:solidFill>
            <a:schemeClr val="accent3">
              <a:lumMod val="20000"/>
              <a:lumOff val="80000"/>
            </a:schemeClr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entury Gothic"/>
              <a:ea typeface="DejaVu Sans"/>
            </a:endParaRPr>
          </a:p>
        </p:txBody>
      </p:sp>
      <p:sp>
        <p:nvSpPr>
          <p:cNvPr id="198" name="Rectangle 13"/>
          <p:cNvSpPr/>
          <p:nvPr/>
        </p:nvSpPr>
        <p:spPr>
          <a:xfrm>
            <a:off x="10672920" y="2769120"/>
            <a:ext cx="1294560" cy="673560"/>
          </a:xfrm>
          <a:prstGeom prst="rect">
            <a:avLst/>
          </a:prstGeom>
          <a:solidFill>
            <a:srgbClr val="00B05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ISP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Rectangle 14"/>
          <p:cNvSpPr/>
          <p:nvPr/>
        </p:nvSpPr>
        <p:spPr>
          <a:xfrm>
            <a:off x="10672920" y="4350600"/>
            <a:ext cx="1294560" cy="670680"/>
          </a:xfrm>
          <a:prstGeom prst="rect">
            <a:avLst/>
          </a:prstGeom>
          <a:solidFill>
            <a:srgbClr val="FFC00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I</a:t>
            </a:r>
            <a:r>
              <a:rPr lang="en-US" sz="1800" b="0" strike="noStrike" spc="-1" baseline="30000">
                <a:solidFill>
                  <a:srgbClr val="000000"/>
                </a:solidFill>
                <a:latin typeface="Century Gothic"/>
                <a:ea typeface="DejaVu Sans"/>
              </a:rPr>
              <a:t>2</a:t>
            </a: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C / SPI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master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Rectangle 15"/>
          <p:cNvSpPr/>
          <p:nvPr/>
        </p:nvSpPr>
        <p:spPr>
          <a:xfrm>
            <a:off x="10672920" y="1992240"/>
            <a:ext cx="1294560" cy="673560"/>
          </a:xfrm>
          <a:prstGeom prst="rect">
            <a:avLst/>
          </a:prstGeom>
          <a:solidFill>
            <a:srgbClr val="7030A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Image Capture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Rectangle 16"/>
          <p:cNvSpPr/>
          <p:nvPr/>
        </p:nvSpPr>
        <p:spPr>
          <a:xfrm>
            <a:off x="10672920" y="5123880"/>
            <a:ext cx="1294560" cy="707400"/>
          </a:xfrm>
          <a:prstGeom prst="rect">
            <a:avLst/>
          </a:prstGeom>
          <a:solidFill>
            <a:srgbClr val="FFFF0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DMA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Rectangle 17"/>
          <p:cNvSpPr/>
          <p:nvPr/>
        </p:nvSpPr>
        <p:spPr>
          <a:xfrm>
            <a:off x="10672920" y="3568680"/>
            <a:ext cx="1294560" cy="679320"/>
          </a:xfrm>
          <a:prstGeom prst="rect">
            <a:avLst/>
          </a:prstGeom>
          <a:solidFill>
            <a:schemeClr val="accent6">
              <a:lumMod val="75000"/>
            </a:schemeClr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Memory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Box 18"/>
          <p:cNvSpPr/>
          <p:nvPr/>
        </p:nvSpPr>
        <p:spPr>
          <a:xfrm>
            <a:off x="5112360" y="2077920"/>
            <a:ext cx="66744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0000"/>
                </a:solidFill>
                <a:latin typeface="Consolas"/>
                <a:ea typeface="DejaVu Sans"/>
              </a:rPr>
              <a:t>v4l2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Cloud 19"/>
          <p:cNvSpPr/>
          <p:nvPr/>
        </p:nvSpPr>
        <p:spPr>
          <a:xfrm>
            <a:off x="4478760" y="3356640"/>
            <a:ext cx="1586160" cy="826200"/>
          </a:xfrm>
          <a:prstGeom prst="cloud">
            <a:avLst/>
          </a:prstGeom>
          <a:solidFill>
            <a:srgbClr val="FFC00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onsolas"/>
                <a:ea typeface="DejaVu Sans"/>
              </a:rPr>
              <a:t>ov5647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Cloud 21"/>
          <p:cNvSpPr/>
          <p:nvPr/>
        </p:nvSpPr>
        <p:spPr>
          <a:xfrm>
            <a:off x="6257520" y="2412360"/>
            <a:ext cx="3249000" cy="826200"/>
          </a:xfrm>
          <a:prstGeom prst="cloud">
            <a:avLst/>
          </a:prstGeom>
          <a:solidFill>
            <a:srgbClr val="7030A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onsolas"/>
                <a:ea typeface="DejaVu Sans"/>
              </a:rPr>
              <a:t>sun6i-mipi-csi2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Cloud 22"/>
          <p:cNvSpPr/>
          <p:nvPr/>
        </p:nvSpPr>
        <p:spPr>
          <a:xfrm>
            <a:off x="5368320" y="4470480"/>
            <a:ext cx="3450960" cy="964080"/>
          </a:xfrm>
          <a:prstGeom prst="cloud">
            <a:avLst/>
          </a:prstGeom>
          <a:solidFill>
            <a:srgbClr val="7030A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onsolas"/>
                <a:ea typeface="DejaVu Sans"/>
              </a:rPr>
              <a:t>sun6i-csi-bridge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Cloud 23"/>
          <p:cNvSpPr/>
          <p:nvPr/>
        </p:nvSpPr>
        <p:spPr>
          <a:xfrm>
            <a:off x="6652440" y="3429000"/>
            <a:ext cx="3097080" cy="826200"/>
          </a:xfrm>
          <a:prstGeom prst="cloud">
            <a:avLst/>
          </a:prstGeom>
          <a:solidFill>
            <a:srgbClr val="00B05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onsolas"/>
                <a:ea typeface="DejaVu Sans"/>
              </a:rPr>
              <a:t>sun6i-isp-proc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CF32EE84-AF40-4100-8CDF-77CDC31091CB}" type="slidenum"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Cloud 15"/>
          <p:cNvSpPr/>
          <p:nvPr/>
        </p:nvSpPr>
        <p:spPr>
          <a:xfrm>
            <a:off x="7461360" y="1547640"/>
            <a:ext cx="4111560" cy="4575600"/>
          </a:xfrm>
          <a:prstGeom prst="cloud">
            <a:avLst/>
          </a:prstGeom>
          <a:solidFill>
            <a:schemeClr val="accent3">
              <a:lumMod val="20000"/>
              <a:lumOff val="80000"/>
            </a:schemeClr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entury Gothic"/>
              <a:ea typeface="DejaVu Sans"/>
            </a:endParaRPr>
          </a:p>
        </p:txBody>
      </p:sp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0720" cy="1279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rgbClr val="262626"/>
                </a:solidFill>
                <a:latin typeface="Century Gothic"/>
              </a:rPr>
              <a:t>System view (User)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10" name="Straight Connector 3"/>
          <p:cNvCxnSpPr/>
          <p:nvPr/>
        </p:nvCxnSpPr>
        <p:spPr>
          <a:xfrm>
            <a:off x="6829200" y="1657080"/>
            <a:ext cx="1080" cy="4894560"/>
          </a:xfrm>
          <a:prstGeom prst="straightConnector1">
            <a:avLst/>
          </a:prstGeom>
          <a:ln w="38100" cap="rnd">
            <a:solidFill>
              <a:srgbClr val="9D2D0F"/>
            </a:solidFill>
            <a:prstDash val="dashDot"/>
            <a:round/>
          </a:ln>
        </p:spPr>
      </p:cxnSp>
      <p:sp>
        <p:nvSpPr>
          <p:cNvPr id="211" name="TextBox 4"/>
          <p:cNvSpPr/>
          <p:nvPr/>
        </p:nvSpPr>
        <p:spPr>
          <a:xfrm>
            <a:off x="7098120" y="6186960"/>
            <a:ext cx="16664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Kernel Space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Box 5"/>
          <p:cNvSpPr/>
          <p:nvPr/>
        </p:nvSpPr>
        <p:spPr>
          <a:xfrm>
            <a:off x="5109120" y="6181200"/>
            <a:ext cx="14688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User Space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Box 7"/>
          <p:cNvSpPr/>
          <p:nvPr/>
        </p:nvSpPr>
        <p:spPr>
          <a:xfrm>
            <a:off x="4998600" y="3508200"/>
            <a:ext cx="16884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onsolas"/>
                <a:ea typeface="DejaVu Sans"/>
              </a:rPr>
              <a:t>/dev/video0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Box 9"/>
          <p:cNvSpPr/>
          <p:nvPr/>
        </p:nvSpPr>
        <p:spPr>
          <a:xfrm>
            <a:off x="10303920" y="1719000"/>
            <a:ext cx="66744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0000"/>
                </a:solidFill>
                <a:latin typeface="Consolas"/>
                <a:ea typeface="DejaVu Sans"/>
              </a:rPr>
              <a:t>v4l2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Cloud 10"/>
          <p:cNvSpPr/>
          <p:nvPr/>
        </p:nvSpPr>
        <p:spPr>
          <a:xfrm>
            <a:off x="9527400" y="2332080"/>
            <a:ext cx="1586160" cy="826200"/>
          </a:xfrm>
          <a:prstGeom prst="cloud">
            <a:avLst/>
          </a:prstGeom>
          <a:solidFill>
            <a:srgbClr val="FFC00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onsolas"/>
                <a:ea typeface="DejaVu Sans"/>
              </a:rPr>
              <a:t>subdev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Cloud 11"/>
          <p:cNvSpPr/>
          <p:nvPr/>
        </p:nvSpPr>
        <p:spPr>
          <a:xfrm>
            <a:off x="8903880" y="4261320"/>
            <a:ext cx="1551600" cy="870120"/>
          </a:xfrm>
          <a:prstGeom prst="cloud">
            <a:avLst/>
          </a:prstGeom>
          <a:solidFill>
            <a:srgbClr val="FFFF0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onsolas"/>
                <a:ea typeface="DejaVu Sans"/>
              </a:rPr>
              <a:t>video buffer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Cloud 12"/>
          <p:cNvSpPr/>
          <p:nvPr/>
        </p:nvSpPr>
        <p:spPr>
          <a:xfrm>
            <a:off x="7932240" y="3232800"/>
            <a:ext cx="1551600" cy="870120"/>
          </a:xfrm>
          <a:prstGeom prst="cloud">
            <a:avLst/>
          </a:prstGeom>
          <a:solidFill>
            <a:srgbClr val="7030A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onsolas"/>
                <a:ea typeface="DejaVu Sans"/>
              </a:rPr>
              <a:t>ioctl ops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18" name="Group 6"/>
          <p:cNvGrpSpPr/>
          <p:nvPr/>
        </p:nvGrpSpPr>
        <p:grpSpPr>
          <a:xfrm>
            <a:off x="2618280" y="2001600"/>
            <a:ext cx="1993320" cy="3381120"/>
            <a:chOff x="2618280" y="2001600"/>
            <a:chExt cx="1993320" cy="3381120"/>
          </a:xfrm>
        </p:grpSpPr>
        <p:sp>
          <p:nvSpPr>
            <p:cNvPr id="219" name="TextBox 13"/>
            <p:cNvSpPr/>
            <p:nvPr/>
          </p:nvSpPr>
          <p:spPr>
            <a:xfrm>
              <a:off x="2618280" y="2105640"/>
              <a:ext cx="1642680" cy="3015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2400" b="0" strike="noStrike" spc="-1">
                  <a:solidFill>
                    <a:srgbClr val="000000"/>
                  </a:solidFill>
                  <a:latin typeface="Consolas"/>
                  <a:ea typeface="DejaVu Sans"/>
                </a:rPr>
                <a:t>open()</a:t>
              </a:r>
              <a:endParaRPr lang="en-US" sz="2400" b="0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2400" b="0" strike="noStrike" spc="-1">
                  <a:solidFill>
                    <a:srgbClr val="000000"/>
                  </a:solidFill>
                  <a:latin typeface="Consolas"/>
                  <a:ea typeface="DejaVu Sans"/>
                </a:rPr>
                <a:t>close()</a:t>
              </a:r>
              <a:endParaRPr lang="en-US" sz="2400" b="0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2400" b="0" strike="noStrike" spc="-1">
                  <a:solidFill>
                    <a:srgbClr val="000000"/>
                  </a:solidFill>
                  <a:latin typeface="Consolas"/>
                  <a:ea typeface="DejaVu Sans"/>
                </a:rPr>
                <a:t>read()</a:t>
              </a:r>
              <a:endParaRPr lang="en-US" sz="2400" b="0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2400" b="0" strike="noStrike" spc="-1">
                  <a:solidFill>
                    <a:srgbClr val="000000"/>
                  </a:solidFill>
                  <a:latin typeface="Consolas"/>
                  <a:ea typeface="DejaVu Sans"/>
                </a:rPr>
                <a:t>write()</a:t>
              </a:r>
              <a:endParaRPr lang="en-US" sz="2400" b="0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2400" b="0" strike="noStrike" spc="-1">
                  <a:solidFill>
                    <a:srgbClr val="000000"/>
                  </a:solidFill>
                  <a:latin typeface="Consolas"/>
                  <a:ea typeface="DejaVu Sans"/>
                </a:rPr>
                <a:t>ioctl() </a:t>
              </a:r>
              <a:endParaRPr lang="en-US" sz="2400" b="0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2400" b="0" strike="noStrike" spc="-1">
                  <a:solidFill>
                    <a:srgbClr val="000000"/>
                  </a:solidFill>
                  <a:latin typeface="Consolas"/>
                  <a:ea typeface="DejaVu Sans"/>
                </a:rPr>
                <a:t>select()</a:t>
              </a:r>
              <a:endParaRPr lang="en-US" sz="2400" b="0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2400" b="0" strike="noStrike" spc="-1">
                  <a:solidFill>
                    <a:srgbClr val="000000"/>
                  </a:solidFill>
                  <a:latin typeface="Consolas"/>
                  <a:ea typeface="DejaVu Sans"/>
                </a:rPr>
                <a:t>mmap()</a:t>
              </a:r>
              <a:endParaRPr lang="en-US" sz="2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0" name="Right Brace 14"/>
            <p:cNvSpPr/>
            <p:nvPr/>
          </p:nvSpPr>
          <p:spPr>
            <a:xfrm>
              <a:off x="3883320" y="2001600"/>
              <a:ext cx="728280" cy="3381120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cap="rnd">
              <a:solidFill>
                <a:srgbClr val="9D2D0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endParaRPr>
            </a:p>
          </p:txBody>
        </p:sp>
      </p:grpSp>
      <p:sp>
        <p:nvSpPr>
          <p:cNvPr id="221" name="Rectangle 2"/>
          <p:cNvSpPr/>
          <p:nvPr/>
        </p:nvSpPr>
        <p:spPr>
          <a:xfrm>
            <a:off x="2593080" y="3877560"/>
            <a:ext cx="1542960" cy="1370880"/>
          </a:xfrm>
          <a:prstGeom prst="rect">
            <a:avLst/>
          </a:prstGeom>
          <a:solidFill>
            <a:srgbClr val="A5301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entury Gothic"/>
              <a:ea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C0A3A60-A188-4950-8149-CA634BC8277A}" type="slidenum">
              <a:t>10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0720" cy="1279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rgbClr val="262626"/>
                </a:solidFill>
                <a:latin typeface="Consolas"/>
              </a:rPr>
              <a:t>mmap() </a:t>
            </a:r>
            <a:r>
              <a:rPr lang="en-US" sz="3600" b="0" strike="noStrike" spc="-1">
                <a:solidFill>
                  <a:srgbClr val="262626"/>
                </a:solidFill>
                <a:latin typeface="Century Gothic"/>
              </a:rPr>
              <a:t>syscall 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Rectangle 4"/>
          <p:cNvSpPr/>
          <p:nvPr/>
        </p:nvSpPr>
        <p:spPr>
          <a:xfrm>
            <a:off x="8744040" y="1376640"/>
            <a:ext cx="1923120" cy="4456080"/>
          </a:xfrm>
          <a:prstGeom prst="rect">
            <a:avLst/>
          </a:prstGeom>
          <a:solidFill>
            <a:schemeClr val="bg2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entury Gothic"/>
              <a:ea typeface="DejaVu Sans"/>
            </a:endParaRPr>
          </a:p>
        </p:txBody>
      </p:sp>
      <p:sp>
        <p:nvSpPr>
          <p:cNvPr id="224" name="TextBox 5"/>
          <p:cNvSpPr/>
          <p:nvPr/>
        </p:nvSpPr>
        <p:spPr>
          <a:xfrm>
            <a:off x="8246160" y="5919120"/>
            <a:ext cx="291996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memory address space 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(physical)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25" name="Straight Arrow Connector 11"/>
          <p:cNvCxnSpPr/>
          <p:nvPr/>
        </p:nvCxnSpPr>
        <p:spPr>
          <a:xfrm>
            <a:off x="10972800" y="3601080"/>
            <a:ext cx="1080" cy="1117440"/>
          </a:xfrm>
          <a:prstGeom prst="straightConnector1">
            <a:avLst/>
          </a:prstGeom>
          <a:ln w="28575" cap="rnd">
            <a:solidFill>
              <a:srgbClr val="9D2D0F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226" name="TextBox 12"/>
          <p:cNvSpPr/>
          <p:nvPr/>
        </p:nvSpPr>
        <p:spPr>
          <a:xfrm>
            <a:off x="10984320" y="3898800"/>
            <a:ext cx="6832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RAM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Box 18"/>
          <p:cNvSpPr/>
          <p:nvPr/>
        </p:nvSpPr>
        <p:spPr>
          <a:xfrm>
            <a:off x="669600" y="5852880"/>
            <a:ext cx="299736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process X address space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(virtual)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Rectangle 24"/>
          <p:cNvSpPr/>
          <p:nvPr/>
        </p:nvSpPr>
        <p:spPr>
          <a:xfrm>
            <a:off x="8744040" y="3601440"/>
            <a:ext cx="1923120" cy="1115280"/>
          </a:xfrm>
          <a:prstGeom prst="rect">
            <a:avLst/>
          </a:prstGeom>
          <a:solidFill>
            <a:schemeClr val="bg1">
              <a:lumMod val="85000"/>
            </a:schemeClr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1" strike="noStrike" spc="-1">
              <a:solidFill>
                <a:srgbClr val="000000"/>
              </a:solidFill>
              <a:latin typeface="Consolas"/>
              <a:ea typeface="DejaVu Sans"/>
            </a:endParaRPr>
          </a:p>
        </p:txBody>
      </p:sp>
      <p:sp>
        <p:nvSpPr>
          <p:cNvPr id="229" name="Rectangle 30"/>
          <p:cNvSpPr/>
          <p:nvPr/>
        </p:nvSpPr>
        <p:spPr>
          <a:xfrm>
            <a:off x="8744040" y="4268160"/>
            <a:ext cx="1923120" cy="245880"/>
          </a:xfrm>
          <a:prstGeom prst="rect">
            <a:avLst/>
          </a:prstGeom>
          <a:solidFill>
            <a:srgbClr val="0070C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1" strike="noStrike" spc="-1">
              <a:solidFill>
                <a:srgbClr val="000000"/>
              </a:solidFill>
              <a:latin typeface="Consolas"/>
              <a:ea typeface="DejaVu Sans"/>
            </a:endParaRPr>
          </a:p>
        </p:txBody>
      </p:sp>
      <p:cxnSp>
        <p:nvCxnSpPr>
          <p:cNvPr id="230" name="Straight Connector 33"/>
          <p:cNvCxnSpPr/>
          <p:nvPr/>
        </p:nvCxnSpPr>
        <p:spPr>
          <a:xfrm>
            <a:off x="6918840" y="1727640"/>
            <a:ext cx="1814760" cy="2036880"/>
          </a:xfrm>
          <a:prstGeom prst="straightConnector1">
            <a:avLst/>
          </a:prstGeom>
          <a:ln w="19050" cap="rnd">
            <a:solidFill>
              <a:srgbClr val="9D2D0F"/>
            </a:solidFill>
            <a:prstDash val="dashDot"/>
            <a:round/>
            <a:headEnd type="triangle" w="lg" len="lg"/>
          </a:ln>
        </p:spPr>
      </p:cxnSp>
      <p:cxnSp>
        <p:nvCxnSpPr>
          <p:cNvPr id="231" name="Straight Connector 34"/>
          <p:cNvCxnSpPr/>
          <p:nvPr/>
        </p:nvCxnSpPr>
        <p:spPr>
          <a:xfrm>
            <a:off x="6918840" y="2115360"/>
            <a:ext cx="1814760" cy="1892880"/>
          </a:xfrm>
          <a:prstGeom prst="straightConnector1">
            <a:avLst/>
          </a:prstGeom>
          <a:ln w="19050" cap="rnd">
            <a:solidFill>
              <a:srgbClr val="9D2D0F"/>
            </a:solidFill>
            <a:prstDash val="dashDot"/>
            <a:round/>
            <a:headEnd type="triangle" w="lg" len="lg"/>
          </a:ln>
        </p:spPr>
      </p:cxnSp>
      <p:cxnSp>
        <p:nvCxnSpPr>
          <p:cNvPr id="232" name="Straight Connector 37"/>
          <p:cNvCxnSpPr/>
          <p:nvPr/>
        </p:nvCxnSpPr>
        <p:spPr>
          <a:xfrm>
            <a:off x="6918840" y="4263120"/>
            <a:ext cx="1730880" cy="1080"/>
          </a:xfrm>
          <a:prstGeom prst="straightConnector1">
            <a:avLst/>
          </a:prstGeom>
          <a:ln w="19050" cap="rnd">
            <a:solidFill>
              <a:srgbClr val="0070C0"/>
            </a:solidFill>
            <a:prstDash val="lgDashDot"/>
            <a:round/>
            <a:headEnd type="triangle" w="lg" len="lg"/>
          </a:ln>
        </p:spPr>
      </p:cxnSp>
      <p:cxnSp>
        <p:nvCxnSpPr>
          <p:cNvPr id="233" name="Straight Connector 40"/>
          <p:cNvCxnSpPr/>
          <p:nvPr/>
        </p:nvCxnSpPr>
        <p:spPr>
          <a:xfrm flipV="1">
            <a:off x="6918840" y="4524480"/>
            <a:ext cx="1825920" cy="623160"/>
          </a:xfrm>
          <a:prstGeom prst="straightConnector1">
            <a:avLst/>
          </a:prstGeom>
          <a:ln w="19050" cap="rnd">
            <a:solidFill>
              <a:srgbClr val="0070C0"/>
            </a:solidFill>
            <a:prstDash val="lgDashDot"/>
            <a:round/>
            <a:headEnd type="triangle" w="lg" len="lg"/>
          </a:ln>
        </p:spPr>
      </p:cxnSp>
      <p:grpSp>
        <p:nvGrpSpPr>
          <p:cNvPr id="234" name="Group 13"/>
          <p:cNvGrpSpPr/>
          <p:nvPr/>
        </p:nvGrpSpPr>
        <p:grpSpPr>
          <a:xfrm>
            <a:off x="1272960" y="1530360"/>
            <a:ext cx="1932840" cy="4234320"/>
            <a:chOff x="1272960" y="1530360"/>
            <a:chExt cx="1932840" cy="4234320"/>
          </a:xfrm>
        </p:grpSpPr>
        <p:sp>
          <p:nvSpPr>
            <p:cNvPr id="235" name="Rectangle 17"/>
            <p:cNvSpPr/>
            <p:nvPr/>
          </p:nvSpPr>
          <p:spPr>
            <a:xfrm>
              <a:off x="1282680" y="1530360"/>
              <a:ext cx="1923120" cy="423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cap="rnd">
              <a:solidFill>
                <a:srgbClr val="7A230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Century Gothic"/>
                <a:ea typeface="DejaVu Sans"/>
              </a:endParaRPr>
            </a:p>
          </p:txBody>
        </p:sp>
        <p:sp>
          <p:nvSpPr>
            <p:cNvPr id="236" name="Rectangle 31"/>
            <p:cNvSpPr/>
            <p:nvPr/>
          </p:nvSpPr>
          <p:spPr>
            <a:xfrm>
              <a:off x="1282680" y="2047320"/>
              <a:ext cx="1923120" cy="109332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cap="rnd">
              <a:solidFill>
                <a:srgbClr val="7A230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800" b="0" strike="noStrike" spc="-1">
                  <a:solidFill>
                    <a:srgbClr val="000000"/>
                  </a:solidFill>
                  <a:latin typeface="Consolas"/>
                  <a:ea typeface="DejaVu Sans"/>
                </a:rPr>
                <a:t>Mapped segment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800" b="0" strike="noStrike" spc="-1">
                  <a:solidFill>
                    <a:srgbClr val="000000"/>
                  </a:solidFill>
                  <a:latin typeface="Consolas"/>
                  <a:ea typeface="DejaVu Sans"/>
                </a:rPr>
                <a:t>(vb2 buffers)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237" name="Straight Connector 44"/>
            <p:cNvCxnSpPr/>
            <p:nvPr/>
          </p:nvCxnSpPr>
          <p:spPr>
            <a:xfrm>
              <a:off x="1272960" y="5236920"/>
              <a:ext cx="1925280" cy="1080"/>
            </a:xfrm>
            <a:prstGeom prst="straightConnector1">
              <a:avLst/>
            </a:prstGeom>
            <a:ln w="28575" cap="rnd">
              <a:solidFill>
                <a:srgbClr val="000000"/>
              </a:solidFill>
              <a:round/>
            </a:ln>
          </p:spPr>
        </p:cxnSp>
        <p:sp>
          <p:nvSpPr>
            <p:cNvPr id="238" name="TextBox 46"/>
            <p:cNvSpPr/>
            <p:nvPr/>
          </p:nvSpPr>
          <p:spPr>
            <a:xfrm>
              <a:off x="1866240" y="5285160"/>
              <a:ext cx="75708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800" b="0" strike="noStrike" spc="-1">
                  <a:solidFill>
                    <a:srgbClr val="000000"/>
                  </a:solidFill>
                  <a:latin typeface="Century Gothic"/>
                  <a:ea typeface="DejaVu Sans"/>
                </a:rPr>
                <a:t>TEXT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239" name="Straight Connector 47"/>
            <p:cNvCxnSpPr/>
            <p:nvPr/>
          </p:nvCxnSpPr>
          <p:spPr>
            <a:xfrm>
              <a:off x="1272960" y="4737240"/>
              <a:ext cx="1925280" cy="1080"/>
            </a:xfrm>
            <a:prstGeom prst="straightConnector1">
              <a:avLst/>
            </a:prstGeom>
            <a:ln w="28575" cap="rnd">
              <a:solidFill>
                <a:srgbClr val="000000"/>
              </a:solidFill>
              <a:round/>
            </a:ln>
          </p:spPr>
        </p:cxnSp>
        <p:sp>
          <p:nvSpPr>
            <p:cNvPr id="240" name="TextBox 48"/>
            <p:cNvSpPr/>
            <p:nvPr/>
          </p:nvSpPr>
          <p:spPr>
            <a:xfrm>
              <a:off x="1885680" y="4785480"/>
              <a:ext cx="6217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800" b="0" strike="noStrike" spc="-1">
                  <a:solidFill>
                    <a:srgbClr val="000000"/>
                  </a:solidFill>
                  <a:latin typeface="Century Gothic"/>
                  <a:ea typeface="DejaVu Sans"/>
                </a:rPr>
                <a:t>BSS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41" name="TextBox 49"/>
          <p:cNvSpPr/>
          <p:nvPr/>
        </p:nvSpPr>
        <p:spPr>
          <a:xfrm>
            <a:off x="7416000" y="6401160"/>
            <a:ext cx="8197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entury Gothic"/>
                <a:ea typeface="DejaVu Sans"/>
              </a:rPr>
              <a:t>MMU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Rectangle 27"/>
          <p:cNvSpPr/>
          <p:nvPr/>
        </p:nvSpPr>
        <p:spPr>
          <a:xfrm>
            <a:off x="8744040" y="3763440"/>
            <a:ext cx="1923120" cy="2458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onsolas"/>
                <a:ea typeface="DejaVu Sans"/>
              </a:rPr>
              <a:t>cma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Rectangle 28"/>
          <p:cNvSpPr/>
          <p:nvPr/>
        </p:nvSpPr>
        <p:spPr>
          <a:xfrm>
            <a:off x="4994640" y="1376640"/>
            <a:ext cx="1923120" cy="4456080"/>
          </a:xfrm>
          <a:prstGeom prst="rect">
            <a:avLst/>
          </a:prstGeom>
          <a:solidFill>
            <a:schemeClr val="bg2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entury Gothic"/>
              <a:ea typeface="DejaVu Sans"/>
            </a:endParaRPr>
          </a:p>
        </p:txBody>
      </p:sp>
      <p:cxnSp>
        <p:nvCxnSpPr>
          <p:cNvPr id="244" name="Straight Connector 29"/>
          <p:cNvCxnSpPr/>
          <p:nvPr/>
        </p:nvCxnSpPr>
        <p:spPr>
          <a:xfrm>
            <a:off x="4994640" y="2466720"/>
            <a:ext cx="1925280" cy="1080"/>
          </a:xfrm>
          <a:prstGeom prst="straightConnector1">
            <a:avLst/>
          </a:prstGeom>
          <a:ln w="28575" cap="rnd">
            <a:solidFill>
              <a:srgbClr val="000000"/>
            </a:solidFill>
            <a:round/>
          </a:ln>
        </p:spPr>
      </p:cxnSp>
      <p:sp>
        <p:nvSpPr>
          <p:cNvPr id="245" name="Rectangle 39"/>
          <p:cNvSpPr/>
          <p:nvPr/>
        </p:nvSpPr>
        <p:spPr>
          <a:xfrm>
            <a:off x="4994640" y="4268160"/>
            <a:ext cx="1923120" cy="877320"/>
          </a:xfrm>
          <a:prstGeom prst="rect">
            <a:avLst/>
          </a:prstGeom>
          <a:solidFill>
            <a:schemeClr val="bg1">
              <a:lumMod val="85000"/>
            </a:schemeClr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onsolas"/>
                <a:ea typeface="DejaVu Sans"/>
              </a:rPr>
              <a:t>process X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Rectangle 41"/>
          <p:cNvSpPr/>
          <p:nvPr/>
        </p:nvSpPr>
        <p:spPr>
          <a:xfrm>
            <a:off x="4994640" y="1728000"/>
            <a:ext cx="1923120" cy="386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onsolas"/>
                <a:ea typeface="DejaVu Sans"/>
              </a:rPr>
              <a:t>vb2 buffers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Box 42"/>
          <p:cNvSpPr/>
          <p:nvPr/>
        </p:nvSpPr>
        <p:spPr>
          <a:xfrm>
            <a:off x="10645200" y="1222560"/>
            <a:ext cx="12463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0000"/>
                </a:solidFill>
                <a:latin typeface="Consolas"/>
                <a:ea typeface="DejaVu Sans"/>
              </a:rPr>
              <a:t>0xFFFFFFFF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Box 43"/>
          <p:cNvSpPr/>
          <p:nvPr/>
        </p:nvSpPr>
        <p:spPr>
          <a:xfrm>
            <a:off x="10651320" y="5617080"/>
            <a:ext cx="49968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0000"/>
                </a:solidFill>
                <a:latin typeface="Consolas"/>
                <a:ea typeface="DejaVu Sans"/>
              </a:rPr>
              <a:t>0x0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Box 45"/>
          <p:cNvSpPr/>
          <p:nvPr/>
        </p:nvSpPr>
        <p:spPr>
          <a:xfrm>
            <a:off x="5282280" y="2435760"/>
            <a:ext cx="135324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0000"/>
                </a:solidFill>
                <a:latin typeface="Consolas"/>
                <a:ea typeface="DejaVu Sans"/>
              </a:rPr>
              <a:t>PAGE_OFFSET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Box 50"/>
          <p:cNvSpPr/>
          <p:nvPr/>
        </p:nvSpPr>
        <p:spPr>
          <a:xfrm>
            <a:off x="4292640" y="5867640"/>
            <a:ext cx="33404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kernel / User address space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(virtual)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51" name="Straight Connector 51"/>
          <p:cNvCxnSpPr/>
          <p:nvPr/>
        </p:nvCxnSpPr>
        <p:spPr>
          <a:xfrm>
            <a:off x="3197160" y="1530360"/>
            <a:ext cx="1798560" cy="2733840"/>
          </a:xfrm>
          <a:prstGeom prst="straightConnector1">
            <a:avLst/>
          </a:prstGeom>
          <a:ln w="19050" cap="rnd">
            <a:solidFill>
              <a:srgbClr val="0070C0"/>
            </a:solidFill>
            <a:prstDash val="lgDashDot"/>
            <a:round/>
            <a:headEnd type="triangle" w="lg" len="lg"/>
          </a:ln>
        </p:spPr>
      </p:cxnSp>
      <p:cxnSp>
        <p:nvCxnSpPr>
          <p:cNvPr id="252" name="Straight Connector 52"/>
          <p:cNvCxnSpPr/>
          <p:nvPr/>
        </p:nvCxnSpPr>
        <p:spPr>
          <a:xfrm flipV="1">
            <a:off x="3206520" y="5146560"/>
            <a:ext cx="1789200" cy="619920"/>
          </a:xfrm>
          <a:prstGeom prst="straightConnector1">
            <a:avLst/>
          </a:prstGeom>
          <a:ln w="19050" cap="rnd">
            <a:solidFill>
              <a:srgbClr val="0070C0"/>
            </a:solidFill>
            <a:prstDash val="lgDashDot"/>
            <a:round/>
            <a:headEnd type="triangle" w="lg" len="lg"/>
          </a:ln>
        </p:spPr>
      </p:cxnSp>
      <p:cxnSp>
        <p:nvCxnSpPr>
          <p:cNvPr id="253" name="Straight Connector 53"/>
          <p:cNvCxnSpPr/>
          <p:nvPr/>
        </p:nvCxnSpPr>
        <p:spPr>
          <a:xfrm flipV="1">
            <a:off x="3197160" y="2115360"/>
            <a:ext cx="1798560" cy="1027440"/>
          </a:xfrm>
          <a:prstGeom prst="straightConnector1">
            <a:avLst/>
          </a:prstGeom>
          <a:ln w="19050" cap="rnd">
            <a:solidFill>
              <a:srgbClr val="9D2D0F"/>
            </a:solidFill>
            <a:prstDash val="dashDot"/>
            <a:round/>
            <a:headEnd type="triangle" w="lg" len="lg"/>
          </a:ln>
        </p:spPr>
      </p:cxnSp>
      <p:cxnSp>
        <p:nvCxnSpPr>
          <p:cNvPr id="254" name="Straight Connector 54"/>
          <p:cNvCxnSpPr/>
          <p:nvPr/>
        </p:nvCxnSpPr>
        <p:spPr>
          <a:xfrm flipV="1">
            <a:off x="3206520" y="1727640"/>
            <a:ext cx="1789200" cy="320760"/>
          </a:xfrm>
          <a:prstGeom prst="straightConnector1">
            <a:avLst/>
          </a:prstGeom>
          <a:ln w="19050" cap="rnd">
            <a:solidFill>
              <a:srgbClr val="9D2D0F"/>
            </a:solidFill>
            <a:prstDash val="dashDot"/>
            <a:round/>
            <a:headEnd type="triangle" w="lg" len="lg"/>
          </a:ln>
        </p:spPr>
      </p:cxnSp>
      <p:cxnSp>
        <p:nvCxnSpPr>
          <p:cNvPr id="255" name="Straight Connector 6"/>
          <p:cNvCxnSpPr>
            <a:stCxn id="241" idx="0"/>
          </p:cNvCxnSpPr>
          <p:nvPr/>
        </p:nvCxnSpPr>
        <p:spPr>
          <a:xfrm flipV="1">
            <a:off x="7825680" y="704520"/>
            <a:ext cx="1080" cy="5697000"/>
          </a:xfrm>
          <a:prstGeom prst="straightConnector1">
            <a:avLst/>
          </a:prstGeom>
          <a:ln w="19050" cap="rnd">
            <a:solidFill>
              <a:srgbClr val="BFBFBF"/>
            </a:solidFill>
            <a:prstDash val="dashDot"/>
            <a:round/>
          </a:ln>
        </p:spPr>
      </p:cxn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EBA8930B-8EAA-4733-98EB-88BB1E60353E}" type="slidenum"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0720" cy="1279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rgbClr val="262626"/>
                </a:solidFill>
                <a:latin typeface="Century Gothic"/>
              </a:rPr>
              <a:t>Capture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57" name="Group 22"/>
          <p:cNvGrpSpPr/>
          <p:nvPr/>
        </p:nvGrpSpPr>
        <p:grpSpPr>
          <a:xfrm>
            <a:off x="7391520" y="3066120"/>
            <a:ext cx="1967400" cy="1248840"/>
            <a:chOff x="7391520" y="3066120"/>
            <a:chExt cx="1967400" cy="1248840"/>
          </a:xfrm>
        </p:grpSpPr>
        <p:sp>
          <p:nvSpPr>
            <p:cNvPr id="258" name="Rectangle 13"/>
            <p:cNvSpPr/>
            <p:nvPr/>
          </p:nvSpPr>
          <p:spPr>
            <a:xfrm>
              <a:off x="7391520" y="3429000"/>
              <a:ext cx="1904040" cy="884880"/>
            </a:xfrm>
            <a:prstGeom prst="rect">
              <a:avLst/>
            </a:prstGeom>
            <a:noFill/>
            <a:ln cap="rnd">
              <a:solidFill>
                <a:srgbClr val="7A230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Century Gothic"/>
                <a:ea typeface="DejaVu Sans"/>
              </a:endParaRPr>
            </a:p>
          </p:txBody>
        </p:sp>
        <p:grpSp>
          <p:nvGrpSpPr>
            <p:cNvPr id="259" name="Group 14"/>
            <p:cNvGrpSpPr/>
            <p:nvPr/>
          </p:nvGrpSpPr>
          <p:grpSpPr>
            <a:xfrm>
              <a:off x="7391520" y="3429000"/>
              <a:ext cx="336240" cy="885960"/>
              <a:chOff x="7391520" y="3429000"/>
              <a:chExt cx="336240" cy="885960"/>
            </a:xfrm>
          </p:grpSpPr>
          <p:sp>
            <p:nvSpPr>
              <p:cNvPr id="260" name="Rectangle 15"/>
              <p:cNvSpPr/>
              <p:nvPr/>
            </p:nvSpPr>
            <p:spPr>
              <a:xfrm>
                <a:off x="7391520" y="3429000"/>
                <a:ext cx="336240" cy="884880"/>
              </a:xfrm>
              <a:prstGeom prst="rect">
                <a:avLst/>
              </a:prstGeom>
              <a:noFill/>
              <a:ln cap="rnd">
                <a:solidFill>
                  <a:srgbClr val="7A230B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Century Gothic"/>
                  <a:ea typeface="DejaVu Sans"/>
                </a:endParaRPr>
              </a:p>
            </p:txBody>
          </p:sp>
          <p:sp>
            <p:nvSpPr>
              <p:cNvPr id="261" name="TextBox 16"/>
              <p:cNvSpPr/>
              <p:nvPr/>
            </p:nvSpPr>
            <p:spPr>
              <a:xfrm rot="16200000">
                <a:off x="7115040" y="3720960"/>
                <a:ext cx="884880" cy="302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en-US" sz="1400" b="0" strike="noStrike" spc="-1">
                    <a:solidFill>
                      <a:srgbClr val="000000"/>
                    </a:solidFill>
                    <a:latin typeface="Consolas"/>
                    <a:ea typeface="DejaVu Sans"/>
                  </a:rPr>
                  <a:t>Buf 2</a:t>
                </a:r>
                <a:endParaRPr lang="en-US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262" name="Group 17"/>
            <p:cNvGrpSpPr/>
            <p:nvPr/>
          </p:nvGrpSpPr>
          <p:grpSpPr>
            <a:xfrm>
              <a:off x="7728840" y="3429000"/>
              <a:ext cx="336240" cy="885960"/>
              <a:chOff x="7728840" y="3429000"/>
              <a:chExt cx="336240" cy="885960"/>
            </a:xfrm>
          </p:grpSpPr>
          <p:sp>
            <p:nvSpPr>
              <p:cNvPr id="263" name="Rectangle 18"/>
              <p:cNvSpPr/>
              <p:nvPr/>
            </p:nvSpPr>
            <p:spPr>
              <a:xfrm>
                <a:off x="7728840" y="3429000"/>
                <a:ext cx="336240" cy="884880"/>
              </a:xfrm>
              <a:prstGeom prst="rect">
                <a:avLst/>
              </a:prstGeom>
              <a:noFill/>
              <a:ln cap="rnd">
                <a:solidFill>
                  <a:srgbClr val="7A230B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Century Gothic"/>
                  <a:ea typeface="DejaVu Sans"/>
                </a:endParaRPr>
              </a:p>
            </p:txBody>
          </p:sp>
          <p:sp>
            <p:nvSpPr>
              <p:cNvPr id="264" name="TextBox 19"/>
              <p:cNvSpPr/>
              <p:nvPr/>
            </p:nvSpPr>
            <p:spPr>
              <a:xfrm rot="16200000">
                <a:off x="7452360" y="3720960"/>
                <a:ext cx="884880" cy="302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en-US" sz="1400" b="0" strike="noStrike" spc="-1">
                    <a:solidFill>
                      <a:srgbClr val="000000"/>
                    </a:solidFill>
                    <a:latin typeface="Consolas"/>
                    <a:ea typeface="DejaVu Sans"/>
                  </a:rPr>
                  <a:t>Buf 3</a:t>
                </a:r>
                <a:endParaRPr lang="en-US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265" name="TextBox 20"/>
            <p:cNvSpPr/>
            <p:nvPr/>
          </p:nvSpPr>
          <p:spPr>
            <a:xfrm>
              <a:off x="8199360" y="3066120"/>
              <a:ext cx="115956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000000"/>
                  </a:solidFill>
                  <a:latin typeface="Century Gothic"/>
                  <a:ea typeface="DejaVu Sans"/>
                </a:rPr>
                <a:t>INPUT queue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6" name="Group 26"/>
          <p:cNvGrpSpPr/>
          <p:nvPr/>
        </p:nvGrpSpPr>
        <p:grpSpPr>
          <a:xfrm>
            <a:off x="4734000" y="3429000"/>
            <a:ext cx="2024640" cy="1195920"/>
            <a:chOff x="4734000" y="3429000"/>
            <a:chExt cx="2024640" cy="1195920"/>
          </a:xfrm>
        </p:grpSpPr>
        <p:sp>
          <p:nvSpPr>
            <p:cNvPr id="267" name="Rectangle 3"/>
            <p:cNvSpPr/>
            <p:nvPr/>
          </p:nvSpPr>
          <p:spPr>
            <a:xfrm>
              <a:off x="4734000" y="3429000"/>
              <a:ext cx="1904040" cy="884880"/>
            </a:xfrm>
            <a:prstGeom prst="rect">
              <a:avLst/>
            </a:prstGeom>
            <a:noFill/>
            <a:ln cap="rnd">
              <a:solidFill>
                <a:srgbClr val="7A230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Century Gothic"/>
                <a:ea typeface="DejaVu Sans"/>
              </a:endParaRPr>
            </a:p>
          </p:txBody>
        </p:sp>
        <p:grpSp>
          <p:nvGrpSpPr>
            <p:cNvPr id="268" name="Group 9"/>
            <p:cNvGrpSpPr/>
            <p:nvPr/>
          </p:nvGrpSpPr>
          <p:grpSpPr>
            <a:xfrm>
              <a:off x="4734000" y="3429000"/>
              <a:ext cx="336240" cy="885960"/>
              <a:chOff x="4734000" y="3429000"/>
              <a:chExt cx="336240" cy="885960"/>
            </a:xfrm>
          </p:grpSpPr>
          <p:sp>
            <p:nvSpPr>
              <p:cNvPr id="269" name="Rectangle 5"/>
              <p:cNvSpPr/>
              <p:nvPr/>
            </p:nvSpPr>
            <p:spPr>
              <a:xfrm>
                <a:off x="4734000" y="3429000"/>
                <a:ext cx="336240" cy="884880"/>
              </a:xfrm>
              <a:prstGeom prst="rect">
                <a:avLst/>
              </a:prstGeom>
              <a:noFill/>
              <a:ln cap="rnd">
                <a:solidFill>
                  <a:srgbClr val="7A230B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Century Gothic"/>
                  <a:ea typeface="DejaVu Sans"/>
                </a:endParaRPr>
              </a:p>
            </p:txBody>
          </p:sp>
          <p:sp>
            <p:nvSpPr>
              <p:cNvPr id="270" name="TextBox 8"/>
              <p:cNvSpPr/>
              <p:nvPr/>
            </p:nvSpPr>
            <p:spPr>
              <a:xfrm rot="16200000">
                <a:off x="4457520" y="3720960"/>
                <a:ext cx="884880" cy="302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en-US" sz="1400" b="0" strike="noStrike" spc="-1">
                    <a:solidFill>
                      <a:srgbClr val="000000"/>
                    </a:solidFill>
                    <a:latin typeface="Consolas"/>
                    <a:ea typeface="DejaVu Sans"/>
                  </a:rPr>
                  <a:t>Buf 0</a:t>
                </a:r>
                <a:endParaRPr lang="en-US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271" name="Group 10"/>
            <p:cNvGrpSpPr/>
            <p:nvPr/>
          </p:nvGrpSpPr>
          <p:grpSpPr>
            <a:xfrm>
              <a:off x="5071320" y="3429000"/>
              <a:ext cx="336240" cy="885960"/>
              <a:chOff x="5071320" y="3429000"/>
              <a:chExt cx="336240" cy="885960"/>
            </a:xfrm>
          </p:grpSpPr>
          <p:sp>
            <p:nvSpPr>
              <p:cNvPr id="272" name="Rectangle 11"/>
              <p:cNvSpPr/>
              <p:nvPr/>
            </p:nvSpPr>
            <p:spPr>
              <a:xfrm>
                <a:off x="5071320" y="3429000"/>
                <a:ext cx="336240" cy="884880"/>
              </a:xfrm>
              <a:prstGeom prst="rect">
                <a:avLst/>
              </a:prstGeom>
              <a:noFill/>
              <a:ln cap="rnd">
                <a:solidFill>
                  <a:srgbClr val="7A230B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Century Gothic"/>
                  <a:ea typeface="DejaVu Sans"/>
                </a:endParaRPr>
              </a:p>
            </p:txBody>
          </p:sp>
          <p:sp>
            <p:nvSpPr>
              <p:cNvPr id="273" name="TextBox 12"/>
              <p:cNvSpPr/>
              <p:nvPr/>
            </p:nvSpPr>
            <p:spPr>
              <a:xfrm rot="16200000">
                <a:off x="4794840" y="3720960"/>
                <a:ext cx="884880" cy="302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en-US" sz="1400" b="0" strike="noStrike" spc="-1">
                    <a:solidFill>
                      <a:srgbClr val="000000"/>
                    </a:solidFill>
                    <a:latin typeface="Consolas"/>
                    <a:ea typeface="DejaVu Sans"/>
                  </a:rPr>
                  <a:t>Buf 1</a:t>
                </a:r>
                <a:endParaRPr lang="en-US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274" name="TextBox 21"/>
            <p:cNvSpPr/>
            <p:nvPr/>
          </p:nvSpPr>
          <p:spPr>
            <a:xfrm>
              <a:off x="5433120" y="4352760"/>
              <a:ext cx="132552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000000"/>
                  </a:solidFill>
                  <a:latin typeface="Century Gothic"/>
                  <a:ea typeface="DejaVu Sans"/>
                </a:rPr>
                <a:t>OUTPUT queue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75" name="Arrow: Curved Right 24"/>
          <p:cNvSpPr/>
          <p:nvPr/>
        </p:nvSpPr>
        <p:spPr>
          <a:xfrm rot="5400000">
            <a:off x="6000480" y="1627560"/>
            <a:ext cx="1122840" cy="2304360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A5301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Century Gothic"/>
              <a:ea typeface="DejaVu Sans"/>
            </a:endParaRPr>
          </a:p>
        </p:txBody>
      </p:sp>
      <p:sp>
        <p:nvSpPr>
          <p:cNvPr id="276" name="Arrow: Curved Right 25"/>
          <p:cNvSpPr/>
          <p:nvPr/>
        </p:nvSpPr>
        <p:spPr>
          <a:xfrm rot="16200000">
            <a:off x="6048360" y="3077280"/>
            <a:ext cx="1360800" cy="3989880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A5301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Century Gothic"/>
              <a:ea typeface="DejaVu Sans"/>
            </a:endParaRPr>
          </a:p>
        </p:txBody>
      </p:sp>
      <p:sp>
        <p:nvSpPr>
          <p:cNvPr id="277" name="TextBox 27"/>
          <p:cNvSpPr/>
          <p:nvPr/>
        </p:nvSpPr>
        <p:spPr>
          <a:xfrm>
            <a:off x="5725800" y="1832760"/>
            <a:ext cx="18255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onsolas"/>
                <a:ea typeface="DejaVu Sans"/>
              </a:rPr>
              <a:t>VIDIOC_DQBUF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Box 28"/>
          <p:cNvSpPr/>
          <p:nvPr/>
        </p:nvSpPr>
        <p:spPr>
          <a:xfrm>
            <a:off x="5794560" y="5790960"/>
            <a:ext cx="16884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onsolas"/>
                <a:ea typeface="DejaVu Sans"/>
              </a:rPr>
              <a:t>VIDIOC_QBUF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Rectangle 29"/>
          <p:cNvSpPr/>
          <p:nvPr/>
        </p:nvSpPr>
        <p:spPr>
          <a:xfrm>
            <a:off x="10063800" y="3076560"/>
            <a:ext cx="1812600" cy="1608480"/>
          </a:xfrm>
          <a:prstGeom prst="rect">
            <a:avLst/>
          </a:prstGeom>
          <a:noFill/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Bridge Driver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(e.g atmel-isi)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Rectangle 32"/>
          <p:cNvSpPr/>
          <p:nvPr/>
        </p:nvSpPr>
        <p:spPr>
          <a:xfrm>
            <a:off x="4581360" y="1733400"/>
            <a:ext cx="4837680" cy="4580280"/>
          </a:xfrm>
          <a:prstGeom prst="rect">
            <a:avLst/>
          </a:prstGeom>
          <a:noFill/>
          <a:ln cap="rnd">
            <a:solidFill>
              <a:srgbClr val="7A230B"/>
            </a:solidFill>
            <a:prstDash val="dash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entury Gothic"/>
              <a:ea typeface="DejaVu Sans"/>
            </a:endParaRPr>
          </a:p>
        </p:txBody>
      </p:sp>
      <p:sp>
        <p:nvSpPr>
          <p:cNvPr id="281" name="TextBox 33"/>
          <p:cNvSpPr/>
          <p:nvPr/>
        </p:nvSpPr>
        <p:spPr>
          <a:xfrm>
            <a:off x="7590960" y="1326240"/>
            <a:ext cx="18972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onsolas"/>
                <a:ea typeface="DejaVu Sans"/>
              </a:rPr>
              <a:t>vb2</a:t>
            </a: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 framework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Arrow: Left 34"/>
          <p:cNvSpPr/>
          <p:nvPr/>
        </p:nvSpPr>
        <p:spPr>
          <a:xfrm>
            <a:off x="9341280" y="3676680"/>
            <a:ext cx="721440" cy="36828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A5301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entury Gothic"/>
              <a:ea typeface="DejaVu Sans"/>
            </a:endParaRPr>
          </a:p>
        </p:txBody>
      </p:sp>
      <p:cxnSp>
        <p:nvCxnSpPr>
          <p:cNvPr id="283" name="Straight Connector 4"/>
          <p:cNvCxnSpPr/>
          <p:nvPr/>
        </p:nvCxnSpPr>
        <p:spPr>
          <a:xfrm>
            <a:off x="3924000" y="1447560"/>
            <a:ext cx="1080" cy="5237640"/>
          </a:xfrm>
          <a:prstGeom prst="straightConnector1">
            <a:avLst/>
          </a:prstGeom>
          <a:ln w="38100" cap="rnd">
            <a:solidFill>
              <a:srgbClr val="9D2D0F"/>
            </a:solidFill>
            <a:prstDash val="dashDot"/>
            <a:round/>
          </a:ln>
        </p:spPr>
      </p:cxnSp>
      <p:sp>
        <p:nvSpPr>
          <p:cNvPr id="284" name="TextBox 7"/>
          <p:cNvSpPr/>
          <p:nvPr/>
        </p:nvSpPr>
        <p:spPr>
          <a:xfrm>
            <a:off x="2289960" y="6315120"/>
            <a:ext cx="14428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User space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Rectangle 35"/>
          <p:cNvSpPr/>
          <p:nvPr/>
        </p:nvSpPr>
        <p:spPr>
          <a:xfrm>
            <a:off x="1279800" y="3504240"/>
            <a:ext cx="2237760" cy="713160"/>
          </a:xfrm>
          <a:prstGeom prst="rect">
            <a:avLst/>
          </a:prstGeom>
          <a:noFill/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Application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(e.g. Gstreamer)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Box 36"/>
          <p:cNvSpPr/>
          <p:nvPr/>
        </p:nvSpPr>
        <p:spPr>
          <a:xfrm>
            <a:off x="4048560" y="6315120"/>
            <a:ext cx="16405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rPr>
              <a:t>Kernel space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3F17882-57F1-4AFE-975C-C1B8412952F6}" type="slidenum"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0720" cy="1279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rgbClr val="262626"/>
                </a:solidFill>
                <a:latin typeface="Century Gothic"/>
              </a:rPr>
              <a:t>Taking a picture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2589120" y="1352520"/>
            <a:ext cx="5660640" cy="5504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404040"/>
                </a:solidFill>
                <a:latin typeface="Century Gothic"/>
              </a:rPr>
              <a:t>List all v4l2 devices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864000" indent="0">
              <a:lnSpc>
                <a:spcPct val="100000"/>
              </a:lnSpc>
              <a:spcBef>
                <a:spcPts val="1134"/>
              </a:spcBef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404040"/>
                </a:solidFill>
                <a:latin typeface="Consolas"/>
              </a:rPr>
              <a:t>v4l2-ctl --list-devices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600" b="0" strike="noStrike" spc="-1">
                <a:solidFill>
                  <a:srgbClr val="404040"/>
                </a:solidFill>
                <a:latin typeface="Century Gothic"/>
              </a:rPr>
              <a:t>Get current video format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864000" indent="0">
              <a:lnSpc>
                <a:spcPct val="100000"/>
              </a:lnSpc>
              <a:spcBef>
                <a:spcPts val="1134"/>
              </a:spcBef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404040"/>
                </a:solidFill>
                <a:latin typeface="Consolas"/>
              </a:rPr>
              <a:t>v4l2-ctl -d /dev/video4 --get-fmt-video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600" b="0" strike="noStrike" spc="-1">
                <a:solidFill>
                  <a:srgbClr val="404040"/>
                </a:solidFill>
                <a:latin typeface="Century Gothic"/>
              </a:rPr>
              <a:t>Capture one frame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404040"/>
                </a:solidFill>
                <a:latin typeface="Consolas"/>
              </a:rPr>
              <a:t>v4l2-ctl -d /dev/video4 \</a:t>
            </a:r>
            <a:br>
              <a:rPr sz="1600"/>
            </a:br>
            <a:r>
              <a:rPr lang="en-US" sz="1600" b="1" strike="noStrike" spc="-1">
                <a:solidFill>
                  <a:srgbClr val="404040"/>
                </a:solidFill>
                <a:latin typeface="Consolas"/>
              </a:rPr>
              <a:t>	--stream-mmap \</a:t>
            </a:r>
            <a:br>
              <a:rPr sz="1600"/>
            </a:br>
            <a:r>
              <a:rPr lang="en-US" sz="1600" b="1" strike="noStrike" spc="-1">
                <a:solidFill>
                  <a:srgbClr val="404040"/>
                </a:solidFill>
                <a:latin typeface="Consolas"/>
              </a:rPr>
              <a:t>	--stream-skip 5 \</a:t>
            </a:r>
            <a:br>
              <a:rPr sz="1600"/>
            </a:br>
            <a:r>
              <a:rPr lang="en-US" sz="1600" b="1" strike="noStrike" spc="-1">
                <a:solidFill>
                  <a:srgbClr val="404040"/>
                </a:solidFill>
                <a:latin typeface="Consolas"/>
              </a:rPr>
              <a:t>	--stream-count 1 \</a:t>
            </a:r>
            <a:br>
              <a:rPr sz="1600"/>
            </a:br>
            <a:r>
              <a:rPr lang="en-US" sz="1600" b="1" strike="noStrike" spc="-1">
                <a:solidFill>
                  <a:srgbClr val="404040"/>
                </a:solidFill>
                <a:latin typeface="Consolas"/>
              </a:rPr>
              <a:t>	--stream-to frame.yuyv422 \</a:t>
            </a:r>
            <a:br>
              <a:rPr sz="1600"/>
            </a:br>
            <a:r>
              <a:rPr lang="en-US" sz="1600" b="1" strike="noStrike" spc="-1">
                <a:solidFill>
                  <a:srgbClr val="404040"/>
                </a:solidFill>
                <a:latin typeface="Consolas"/>
              </a:rPr>
              <a:t>	--verbose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600" b="0" strike="noStrike" spc="-1">
                <a:solidFill>
                  <a:srgbClr val="404040"/>
                </a:solidFill>
                <a:latin typeface="Century Gothic"/>
              </a:rPr>
              <a:t>Convert to JPEG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404040"/>
                </a:solidFill>
                <a:latin typeface="Consolas"/>
              </a:rPr>
              <a:t>ffmpeg -f rawvideo \</a:t>
            </a:r>
            <a:br>
              <a:rPr sz="1600"/>
            </a:br>
            <a:r>
              <a:rPr lang="en-US" sz="1600" b="1" strike="noStrike" spc="-1">
                <a:solidFill>
                  <a:srgbClr val="404040"/>
                </a:solidFill>
                <a:latin typeface="Consolas"/>
              </a:rPr>
              <a:t>	-pix_fmt yuyv422 \</a:t>
            </a:r>
            <a:br>
              <a:rPr sz="1600"/>
            </a:br>
            <a:r>
              <a:rPr lang="en-US" sz="1600" b="1" strike="noStrike" spc="-1">
                <a:solidFill>
                  <a:srgbClr val="404040"/>
                </a:solidFill>
                <a:latin typeface="Consolas"/>
              </a:rPr>
              <a:t>	-video_size 640x480 \</a:t>
            </a:r>
            <a:br>
              <a:rPr sz="1600"/>
            </a:br>
            <a:r>
              <a:rPr lang="en-US" sz="1600" b="1" strike="noStrike" spc="-1">
                <a:solidFill>
                  <a:srgbClr val="404040"/>
                </a:solidFill>
                <a:latin typeface="Consolas"/>
              </a:rPr>
              <a:t>	-i frame.yuyv422 \</a:t>
            </a:r>
            <a:br>
              <a:rPr sz="1600"/>
            </a:br>
            <a:r>
              <a:rPr lang="en-US" sz="1600" b="1" strike="noStrike" spc="-1">
                <a:solidFill>
                  <a:srgbClr val="404040"/>
                </a:solidFill>
                <a:latin typeface="Consolas"/>
              </a:rPr>
              <a:t>	-frames:v 1 \</a:t>
            </a:r>
            <a:br>
              <a:rPr sz="1600"/>
            </a:br>
            <a:r>
              <a:rPr lang="en-US" sz="1600" b="1" strike="noStrike" spc="-1">
                <a:solidFill>
                  <a:srgbClr val="404040"/>
                </a:solidFill>
                <a:latin typeface="Consolas"/>
              </a:rPr>
              <a:t>	frame.jpg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9" name="Picture 3"/>
          <p:cNvPicPr/>
          <p:nvPr/>
        </p:nvPicPr>
        <p:blipFill>
          <a:blip r:embed="rId2"/>
          <a:stretch/>
        </p:blipFill>
        <p:spPr>
          <a:xfrm>
            <a:off x="8250840" y="2133720"/>
            <a:ext cx="3776400" cy="377640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65E48BB5-CAAF-4E78-B143-8B2D3AAFADEF}" type="slidenum"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0720" cy="1279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rgbClr val="262626"/>
                </a:solidFill>
                <a:latin typeface="Century Gothic"/>
              </a:rPr>
              <a:t>Next session 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/>
          </p:nvPr>
        </p:nvSpPr>
        <p:spPr>
          <a:xfrm>
            <a:off x="2589120" y="2133720"/>
            <a:ext cx="8914320" cy="3776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Symbol"/>
              <a:buChar char=""/>
            </a:pPr>
            <a:r>
              <a:rPr lang="en-US" sz="1800" b="0" strike="noStrike" spc="-1">
                <a:solidFill>
                  <a:srgbClr val="404040"/>
                </a:solidFill>
                <a:latin typeface="Century Gothic"/>
              </a:rPr>
              <a:t>Understanding </a:t>
            </a:r>
            <a:r>
              <a:rPr lang="en-US" sz="1800" b="1" strike="noStrike" spc="-1">
                <a:solidFill>
                  <a:srgbClr val="404040"/>
                </a:solidFill>
                <a:latin typeface="Consolas"/>
              </a:rPr>
              <a:t>v4l2-ctl</a:t>
            </a:r>
            <a:r>
              <a:rPr lang="en-US" sz="1800" b="0" strike="noStrike" spc="-1">
                <a:solidFill>
                  <a:srgbClr val="404040"/>
                </a:solidFill>
                <a:latin typeface="Century Gothic"/>
              </a:rPr>
              <a:t> and </a:t>
            </a:r>
            <a:r>
              <a:rPr lang="en-US" sz="1800" b="1" strike="noStrike" spc="-1">
                <a:solidFill>
                  <a:srgbClr val="404040"/>
                </a:solidFill>
                <a:latin typeface="Consolas"/>
              </a:rPr>
              <a:t>media-ctl</a:t>
            </a:r>
            <a:r>
              <a:rPr lang="en-US" sz="1800" b="0" strike="noStrike" spc="-1">
                <a:solidFill>
                  <a:srgbClr val="404040"/>
                </a:solidFill>
                <a:latin typeface="Century Gothic"/>
              </a:rPr>
              <a:t> 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Symbol"/>
              <a:buChar char=""/>
            </a:pPr>
            <a:r>
              <a:rPr lang="en-US" sz="1800" b="0" strike="noStrike" spc="-1">
                <a:solidFill>
                  <a:srgbClr val="404040"/>
                </a:solidFill>
                <a:latin typeface="Century Gothic"/>
              </a:rPr>
              <a:t>Simple capture code review 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Symbol"/>
              <a:buChar char=""/>
            </a:pPr>
            <a:r>
              <a:rPr lang="en-US" sz="1800" b="0" strike="noStrike" spc="-1">
                <a:solidFill>
                  <a:srgbClr val="404040"/>
                </a:solidFill>
                <a:latin typeface="Century Gothic"/>
              </a:rPr>
              <a:t>Media pipeline 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Symbol"/>
              <a:buChar char=""/>
            </a:pPr>
            <a:r>
              <a:rPr lang="en-US" sz="1800" b="0" strike="noStrike" spc="-1">
                <a:solidFill>
                  <a:srgbClr val="404040"/>
                </a:solidFill>
                <a:latin typeface="Century Gothic"/>
              </a:rPr>
              <a:t>The </a:t>
            </a:r>
            <a:r>
              <a:rPr lang="en-US" sz="1800" b="1" strike="noStrike" spc="-1">
                <a:solidFill>
                  <a:srgbClr val="404040"/>
                </a:solidFill>
                <a:latin typeface="Consolas"/>
              </a:rPr>
              <a:t>vivid</a:t>
            </a:r>
            <a:r>
              <a:rPr lang="en-US" sz="1800" b="0" strike="noStrike" spc="-1">
                <a:solidFill>
                  <a:srgbClr val="404040"/>
                </a:solidFill>
                <a:latin typeface="Century Gothic"/>
              </a:rPr>
              <a:t> kernel module 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D52C0D0-C1C5-4C38-BC36-E1BAF713BE92}" type="slidenum"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0720" cy="1279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rgbClr val="262626"/>
                </a:solidFill>
                <a:latin typeface="Century Gothic"/>
              </a:rPr>
              <a:t>More information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/>
          </p:nvPr>
        </p:nvSpPr>
        <p:spPr>
          <a:xfrm>
            <a:off x="2589120" y="2133720"/>
            <a:ext cx="4943880" cy="3776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Symbol"/>
              <a:buChar char=""/>
            </a:pPr>
            <a:r>
              <a:rPr lang="en-US" sz="1800" b="0" i="1" strike="noStrike" spc="-1">
                <a:solidFill>
                  <a:srgbClr val="404040"/>
                </a:solidFill>
                <a:latin typeface="Century Gothic"/>
              </a:rPr>
              <a:t>Mastering Linux Device Driver Development </a:t>
            </a:r>
            <a:r>
              <a:rPr lang="en-US" sz="1800" b="0" strike="noStrike" spc="-1">
                <a:solidFill>
                  <a:srgbClr val="404040"/>
                </a:solidFill>
                <a:latin typeface="Century Gothic"/>
              </a:rPr>
              <a:t>by John Madieu </a:t>
            </a:r>
            <a:br>
              <a:rPr sz="1800"/>
            </a:br>
            <a:r>
              <a:rPr lang="en-US" sz="1800" b="0" strike="noStrike" spc="-1">
                <a:solidFill>
                  <a:srgbClr val="404040"/>
                </a:solidFill>
                <a:latin typeface="Century Gothic"/>
              </a:rPr>
              <a:t>(Chapter 9)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Symbol"/>
              <a:buChar char=""/>
            </a:pPr>
            <a:r>
              <a:rPr lang="en-US" sz="1800" b="0" strike="noStrike" spc="-1">
                <a:solidFill>
                  <a:srgbClr val="404040"/>
                </a:solidFill>
                <a:latin typeface="Century Gothic"/>
              </a:rPr>
              <a:t>Linux V4L2 user API documentation: </a:t>
            </a:r>
            <a:r>
              <a:rPr lang="en-US" sz="1800" b="0" u="sng" strike="noStrike" spc="-1">
                <a:solidFill>
                  <a:srgbClr val="FB4A18"/>
                </a:solidFill>
                <a:uFillTx/>
                <a:latin typeface="Century Gothic"/>
                <a:hlinkClick r:id="rId2"/>
              </a:rPr>
              <a:t>https://www.kernel.org/doc/html/v4.9/media/uapi/v4l/user-func.html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4" name="Picture 4"/>
          <p:cNvPicPr/>
          <p:nvPr/>
        </p:nvPicPr>
        <p:blipFill>
          <a:blip r:embed="rId3"/>
          <a:stretch/>
        </p:blipFill>
        <p:spPr>
          <a:xfrm>
            <a:off x="7695360" y="1659960"/>
            <a:ext cx="3806280" cy="472356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ED9314B0-FCF0-4FF3-81D9-F93FB6273906}" type="slidenum">
              <a:t>15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isp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637</TotalTime>
  <Words>491</Words>
  <PresentationFormat>Widescreen</PresentationFormat>
  <Paragraphs>153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Century Gothic</vt:lpstr>
      <vt:lpstr>Consolas</vt:lpstr>
      <vt:lpstr>Symbol</vt:lpstr>
      <vt:lpstr>Times New Roman</vt:lpstr>
      <vt:lpstr>Wingdings</vt:lpstr>
      <vt:lpstr>Wisp</vt:lpstr>
      <vt:lpstr>Wisp</vt:lpstr>
      <vt:lpstr>An introduction to v4l2 (video capture)</vt:lpstr>
      <vt:lpstr>Agenda</vt:lpstr>
      <vt:lpstr>Overview</vt:lpstr>
      <vt:lpstr>You already knew it!</vt:lpstr>
      <vt:lpstr>Not this way …</vt:lpstr>
      <vt:lpstr>The problem</vt:lpstr>
      <vt:lpstr>System view (HW)</vt:lpstr>
      <vt:lpstr>System view (Kernel)</vt:lpstr>
      <vt:lpstr>System view (v3s SoC)</vt:lpstr>
      <vt:lpstr>System view (User)</vt:lpstr>
      <vt:lpstr>mmap() syscall </vt:lpstr>
      <vt:lpstr>Capture</vt:lpstr>
      <vt:lpstr>Taking a picture</vt:lpstr>
      <vt:lpstr>Next session </vt:lpstr>
      <vt:lpstr>More information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subject/>
  <dc:description/>
  <dcterms:created xsi:type="dcterms:W3CDTF">2025-03-23T15:50:13Z</dcterms:created>
  <dcterms:modified xsi:type="dcterms:W3CDTF">2025-05-21T08:15:20Z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15</vt:i4>
  </property>
</Properties>
</file>