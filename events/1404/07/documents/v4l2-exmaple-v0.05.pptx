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7" r:id="rId2"/>
  </p:sldMasterIdLst>
  <p:notesMasterIdLst>
    <p:notesMasterId r:id="rId17"/>
  </p:notesMasterIdLst>
  <p:sldIdLst>
    <p:sldId id="256" r:id="rId3"/>
    <p:sldId id="257" r:id="rId4"/>
    <p:sldId id="258" r:id="rId5"/>
    <p:sldId id="263" r:id="rId6"/>
    <p:sldId id="259" r:id="rId7"/>
    <p:sldId id="270" r:id="rId8"/>
    <p:sldId id="260" r:id="rId9"/>
    <p:sldId id="271" r:id="rId10"/>
    <p:sldId id="273" r:id="rId11"/>
    <p:sldId id="269" r:id="rId12"/>
    <p:sldId id="266" r:id="rId13"/>
    <p:sldId id="268" r:id="rId14"/>
    <p:sldId id="267" r:id="rId15"/>
    <p:sldId id="272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75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8EE77A-E0AD-43B3-A05F-DD1F6DC3E13A}" type="datetimeFigureOut">
              <a:rPr lang="en-US" smtClean="0"/>
              <a:t>9/7/2025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E4BF82-9F8F-4CBF-B185-CF3E68D5A1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80023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588" y="695325"/>
            <a:ext cx="6092825" cy="3427413"/>
          </a:xfrm>
          <a:prstGeom prst="rect">
            <a:avLst/>
          </a:prstGeom>
          <a:ln w="0">
            <a:noFill/>
          </a:ln>
        </p:spPr>
      </p:sp>
      <p:sp>
        <p:nvSpPr>
          <p:cNvPr id="30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0">
              <a:buNone/>
            </a:pPr>
            <a:r>
              <a:rPr lang="hi-IN" sz="2000" b="0" strike="noStrike" spc="-1">
                <a:solidFill>
                  <a:srgbClr val="000000"/>
                </a:solidFill>
                <a:latin typeface="Arial"/>
              </a:rPr>
              <a:t>اهداف اصلی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216000" indent="0">
              <a:buNone/>
            </a:pPr>
            <a:r>
              <a:rPr lang="hi-IN" sz="2000" b="0" strike="noStrike" spc="-1">
                <a:solidFill>
                  <a:srgbClr val="000000"/>
                </a:solidFill>
                <a:latin typeface="Arial"/>
              </a:rPr>
              <a:t>عدم وابستگی بین درایورهای مختلف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216000" indent="0">
              <a:buNone/>
            </a:pPr>
            <a:r>
              <a:rPr lang="hi-IN" sz="2000" b="0" strike="noStrike" spc="-1">
                <a:solidFill>
                  <a:srgbClr val="000000"/>
                </a:solidFill>
                <a:latin typeface="Arial"/>
              </a:rPr>
              <a:t>ارایه یک واسط کاربری یکپارچه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216000" indent="0">
              <a:buNone/>
            </a:pP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216000" indent="0">
              <a:buNone/>
            </a:pPr>
            <a:r>
              <a:rPr lang="hi-IN" sz="2000" b="0" strike="noStrike" spc="-1">
                <a:solidFill>
                  <a:srgbClr val="000000"/>
                </a:solidFill>
                <a:latin typeface="Arial"/>
              </a:rPr>
              <a:t>شرایط بغلی بگیر در پایپلاین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E4BF82-9F8F-4CBF-B185-CF3E68D5A11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47731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E4BF82-9F8F-4CBF-B185-CF3E68D5A117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88428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4813" cy="3084513"/>
          </a:xfrm>
          <a:prstGeom prst="rect">
            <a:avLst/>
          </a:prstGeom>
          <a:ln w="0">
            <a:noFill/>
          </a:ln>
        </p:spPr>
      </p:sp>
      <p:sp>
        <p:nvSpPr>
          <p:cNvPr id="31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3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fld id="{EB48624E-C27D-4960-9E0D-13C3B5AACBB6}" type="slidenum">
              <a:rPr kumimoji="0" lang="en-US" sz="1200" b="0" i="0" u="none" strike="noStrike" kern="1200" cap="none" spc="-1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0" algn="l"/>
                </a:tabLst>
                <a:defRPr/>
              </a:pPr>
              <a:t>13</a:t>
            </a:fld>
            <a:endParaRPr kumimoji="0" lang="en-US" sz="12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E022F-877D-4BD3-A4C4-7C83BA9491C0}" type="datetime1">
              <a:rPr lang="en-US" smtClean="0"/>
              <a:t>9/7/2025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67216002-258E-4D5D-B321-70C4EFBBF9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6905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B2499-8B68-449D-A215-E73EC67AD5B5}" type="datetime1">
              <a:rPr lang="en-US" smtClean="0"/>
              <a:t>9/7/2025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16002-258E-4D5D-B321-70C4EFBBF9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2944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7F8F4F-12FA-41C3-9FED-1E2D71CFA94C}" type="datetime1">
              <a:rPr lang="en-US" smtClean="0"/>
              <a:t>9/7/2025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67216002-258E-4D5D-B321-70C4EFBBF9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6993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223BA-6F85-4427-828B-0CBEFF7E6129}" type="datetime1">
              <a:rPr lang="en-US" smtClean="0"/>
              <a:t>9/7/2025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67216002-258E-4D5D-B321-70C4EFBBF9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08077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0114FA-9DA5-42E6-9A06-56AC04CED50E}" type="datetime1">
              <a:rPr lang="en-US" smtClean="0"/>
              <a:t>9/7/2025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67216002-258E-4D5D-B321-70C4EFBBF9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71978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87F39-B43D-4562-9172-FCDBF53B1CF2}" type="datetime1">
              <a:rPr lang="en-US" smtClean="0"/>
              <a:t>9/7/2025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16002-258E-4D5D-B321-70C4EFBBF9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20942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3C2BA-AB66-453D-B707-939895619B47}" type="datetime1">
              <a:rPr lang="en-US" smtClean="0"/>
              <a:t>9/7/2025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16002-258E-4D5D-B321-70C4EFBBF9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83766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0B804-3285-4591-A91C-D59DCA1DD8C6}" type="datetime1">
              <a:rPr lang="en-US" smtClean="0"/>
              <a:t>9/7/2025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16002-258E-4D5D-B321-70C4EFBBF9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00249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C817A-A3FF-44E9-A326-8E5783F0EB8F}" type="datetime1">
              <a:rPr lang="en-US" smtClean="0"/>
              <a:t>9/7/2025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67216002-258E-4D5D-B321-70C4EFBBF9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41131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95F7ED-CC7A-4B5A-9EE8-1080FDE22B8C}" type="datetime1">
              <a:rPr lang="en-US" smtClean="0"/>
              <a:t>9/7/2025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67216002-258E-4D5D-B321-70C4EFBBF9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92417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CC4FFC-370F-416B-ADC2-35F0D9759D22}" type="datetime1">
              <a:rPr lang="en-US" smtClean="0"/>
              <a:t>9/7/2025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67216002-258E-4D5D-B321-70C4EFBBF90E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653178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37DE6-5699-4526-8CA2-BDCCFB090C20}" type="datetime1">
              <a:rPr lang="en-US" smtClean="0"/>
              <a:t>9/7/2025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67216002-258E-4D5D-B321-70C4EFBBF9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89419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94C6DC-1431-4CB6-88F7-6A8410236709}" type="datetime1">
              <a:rPr lang="en-US" smtClean="0"/>
              <a:t>9/7/2025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67216002-258E-4D5D-B321-70C4EFBBF90E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84497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D5C5F-D95F-43BB-8D82-309613E5A588}" type="datetime1">
              <a:rPr lang="en-US" smtClean="0"/>
              <a:t>9/7/2025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67216002-258E-4D5D-B321-70C4EFBBF9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4271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BB1291-56FD-45F6-81F4-C4C2F95C9E21}" type="datetime1">
              <a:rPr lang="en-US" smtClean="0"/>
              <a:t>9/7/2025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16002-258E-4D5D-B321-70C4EFBBF9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97364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779D9-26EA-424F-963E-769DAE9F9E9D}" type="datetime1">
              <a:rPr lang="en-US" smtClean="0"/>
              <a:t>9/7/2025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16002-258E-4D5D-B321-70C4EFBBF9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708262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130B98FF-4A02-4D16-9C69-04FB3D46DB77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fld id="{A7C8BDF7-02D5-4754-9876-90D9F706CE26}" type="datetime1">
              <a:rPr lang="en-US" smtClean="0"/>
              <a:t>9/7/2025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882545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6ED27092-B979-49C7-8959-7DC47C672ABB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fld id="{B88F4DEA-AFB3-4992-849C-8813E4AD9FA4}" type="datetime1">
              <a:rPr lang="en-US" smtClean="0"/>
              <a:t>9/7/2025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958736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6B3FA4A1-2289-420D-AFEF-AC23BEFB7117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fld id="{624E077F-735A-4C9C-BB4B-E9584EC135C8}" type="datetime1">
              <a:rPr lang="en-US" smtClean="0"/>
              <a:t>9/7/2025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7869277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9D9A699A-473F-4D68-AB7B-83C5ECCF8E5B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fld id="{77FB66CC-67D1-4516-9698-79B5A23B0C67}" type="datetime1">
              <a:rPr lang="en-US" smtClean="0"/>
              <a:t>9/7/2025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5327275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BB547692-2DC2-42B0-9BEE-77DD1FE979C0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fld id="{265852D0-C54F-4C00-934E-E7B2259A5B10}" type="datetime1">
              <a:rPr lang="en-US" smtClean="0"/>
              <a:t>9/7/2025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4370129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C3887283-90BB-419D-9478-68EB5A51C159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fld id="{5D3EFF85-1FA7-40E3-A14A-CA53E0720570}" type="datetime1">
              <a:rPr lang="en-US" smtClean="0"/>
              <a:t>9/7/2025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139823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0C112E73-045A-461C-A6EF-08006288AE4F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fld id="{53719228-58B0-4A50-BAB6-EC9634303136}" type="datetime1">
              <a:rPr lang="en-US" smtClean="0"/>
              <a:t>9/7/2025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0041862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CC8F6876-6A69-40E6-A56C-0E5DC88A87C5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fld id="{1D1315CC-496A-4AF7-B324-5BB1ACB43A82}" type="datetime1">
              <a:rPr lang="en-US" smtClean="0"/>
              <a:t>9/7/2025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5740075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52F6E073-1783-44B8-A0D0-B8C26B229B1D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fld id="{F89A0144-4B70-46DE-ABD1-824A1B2F8664}" type="datetime1">
              <a:rPr lang="en-US" smtClean="0"/>
              <a:t>9/7/2025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532027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09011518-E021-4E79-A8D9-FBD3C645ED7D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fld id="{9946FEB1-E7EC-47C4-A39C-6DF86FA94F0E}" type="datetime1">
              <a:rPr lang="en-US" smtClean="0"/>
              <a:t>9/7/2025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3556591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07EC5C03-54B3-41DC-8FF0-C2F32F8E2899}" type="slidenum">
              <a:t>‹#›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fld id="{431D97D8-BE73-4496-A22C-23327178FC6B}" type="datetime1">
              <a:rPr lang="en-US" smtClean="0"/>
              <a:t>9/7/2025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0710287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endParaRPr/>
          </a:p>
        </p:txBody>
      </p:sp>
      <p:sp>
        <p:nvSpPr>
          <p:cNvPr id="10" name="PlaceHolder 9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9F921163-5DD1-4E7F-9F83-C229D111705A}" type="slidenum">
              <a:t>‹#›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fld id="{365BD9C8-D1A4-453A-9183-41AE5E4F942C}" type="datetime1">
              <a:rPr lang="en-US" smtClean="0"/>
              <a:t>9/7/2025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169677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0C5FE7-6D69-4EA1-A443-A194159145BA}" type="datetime1">
              <a:rPr lang="en-US" smtClean="0"/>
              <a:t>9/7/2025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67216002-258E-4D5D-B321-70C4EFBBF9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3178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FFFFFF"/>
            </a:gs>
            <a:gs pos="100000">
              <a:srgbClr val="DFE7C4"/>
            </a:gs>
          </a:gsLst>
          <a:path path="circle">
            <a:fillToRect l="25000" t="25000" r="75000" b="75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" name="Group 22"/>
          <p:cNvGrpSpPr/>
          <p:nvPr/>
        </p:nvGrpSpPr>
        <p:grpSpPr>
          <a:xfrm>
            <a:off x="0" y="228600"/>
            <a:ext cx="2850480" cy="6637680"/>
            <a:chOff x="0" y="228600"/>
            <a:chExt cx="2850480" cy="6637680"/>
          </a:xfrm>
        </p:grpSpPr>
        <p:sp>
          <p:nvSpPr>
            <p:cNvPr id="70" name="Freeform 11"/>
            <p:cNvSpPr/>
            <p:nvPr/>
          </p:nvSpPr>
          <p:spPr>
            <a:xfrm>
              <a:off x="0" y="2575080"/>
              <a:ext cx="99720" cy="624960"/>
            </a:xfrm>
            <a:custGeom>
              <a:avLst/>
              <a:gdLst>
                <a:gd name="textAreaLeft" fmla="*/ 0 w 99720"/>
                <a:gd name="textAreaRight" fmla="*/ 100800 w 99720"/>
                <a:gd name="textAreaTop" fmla="*/ 0 h 624960"/>
                <a:gd name="textAreaBottom" fmla="*/ 626040 h 624960"/>
              </a:gdLst>
              <a:ahLst/>
              <a:cxnLst/>
              <a:rect l="textAreaLeft" t="textAreaTop" r="textAreaRight" b="textAreaBottom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71" name="Freeform 12"/>
            <p:cNvSpPr/>
            <p:nvPr/>
          </p:nvSpPr>
          <p:spPr>
            <a:xfrm>
              <a:off x="128520" y="3156480"/>
              <a:ext cx="645480" cy="2321280"/>
            </a:xfrm>
            <a:custGeom>
              <a:avLst/>
              <a:gdLst>
                <a:gd name="textAreaLeft" fmla="*/ 0 w 645480"/>
                <a:gd name="textAreaRight" fmla="*/ 646560 w 645480"/>
                <a:gd name="textAreaTop" fmla="*/ 0 h 2321280"/>
                <a:gd name="textAreaBottom" fmla="*/ 2322360 h 2321280"/>
              </a:gdLst>
              <a:ahLst/>
              <a:cxnLst/>
              <a:rect l="textAreaLeft" t="textAreaTop" r="textAreaRight" b="textAreaBottom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72" name="Freeform 13"/>
            <p:cNvSpPr/>
            <p:nvPr/>
          </p:nvSpPr>
          <p:spPr>
            <a:xfrm>
              <a:off x="807120" y="5447160"/>
              <a:ext cx="608400" cy="1419120"/>
            </a:xfrm>
            <a:custGeom>
              <a:avLst/>
              <a:gdLst>
                <a:gd name="textAreaLeft" fmla="*/ 0 w 608400"/>
                <a:gd name="textAreaRight" fmla="*/ 609480 w 608400"/>
                <a:gd name="textAreaTop" fmla="*/ 0 h 1419120"/>
                <a:gd name="textAreaBottom" fmla="*/ 1420200 h 1419120"/>
              </a:gdLst>
              <a:ahLst/>
              <a:cxnLst/>
              <a:rect l="textAreaLeft" t="textAreaTop" r="textAreaRight" b="textAreaBottom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73" name="Freeform 14"/>
            <p:cNvSpPr/>
            <p:nvPr/>
          </p:nvSpPr>
          <p:spPr>
            <a:xfrm>
              <a:off x="959760" y="6503760"/>
              <a:ext cx="170280" cy="362520"/>
            </a:xfrm>
            <a:custGeom>
              <a:avLst/>
              <a:gdLst>
                <a:gd name="textAreaLeft" fmla="*/ 0 w 170280"/>
                <a:gd name="textAreaRight" fmla="*/ 171360 w 170280"/>
                <a:gd name="textAreaTop" fmla="*/ 0 h 362520"/>
                <a:gd name="textAreaBottom" fmla="*/ 363600 h 362520"/>
              </a:gdLst>
              <a:ahLst/>
              <a:cxnLst/>
              <a:rect l="textAreaLeft" t="textAreaTop" r="textAreaRight" b="textAreaBottom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74" name="Freeform 15"/>
            <p:cNvSpPr/>
            <p:nvPr/>
          </p:nvSpPr>
          <p:spPr>
            <a:xfrm>
              <a:off x="100800" y="3201120"/>
              <a:ext cx="820800" cy="3327480"/>
            </a:xfrm>
            <a:custGeom>
              <a:avLst/>
              <a:gdLst>
                <a:gd name="textAreaLeft" fmla="*/ 0 w 820800"/>
                <a:gd name="textAreaRight" fmla="*/ 821880 w 820800"/>
                <a:gd name="textAreaTop" fmla="*/ 0 h 3327480"/>
                <a:gd name="textAreaBottom" fmla="*/ 3328560 h 3327480"/>
              </a:gdLst>
              <a:ahLst/>
              <a:cxnLst/>
              <a:rect l="textAreaLeft" t="textAreaTop" r="textAreaRight" b="textAreaBottom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75" name="Freeform 16"/>
            <p:cNvSpPr/>
            <p:nvPr/>
          </p:nvSpPr>
          <p:spPr>
            <a:xfrm>
              <a:off x="22320" y="228600"/>
              <a:ext cx="105120" cy="2926800"/>
            </a:xfrm>
            <a:custGeom>
              <a:avLst/>
              <a:gdLst>
                <a:gd name="textAreaLeft" fmla="*/ 0 w 105120"/>
                <a:gd name="textAreaRight" fmla="*/ 106200 w 105120"/>
                <a:gd name="textAreaTop" fmla="*/ 0 h 2926800"/>
                <a:gd name="textAreaBottom" fmla="*/ 2927880 h 2926800"/>
              </a:gdLst>
              <a:ahLst/>
              <a:cxnLst/>
              <a:rect l="textAreaLeft" t="textAreaTop" r="textAreaRight" b="textAreaBottom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76" name="Freeform 17"/>
            <p:cNvSpPr/>
            <p:nvPr/>
          </p:nvSpPr>
          <p:spPr>
            <a:xfrm>
              <a:off x="78120" y="2944080"/>
              <a:ext cx="77040" cy="492840"/>
            </a:xfrm>
            <a:custGeom>
              <a:avLst/>
              <a:gdLst>
                <a:gd name="textAreaLeft" fmla="*/ 0 w 77040"/>
                <a:gd name="textAreaRight" fmla="*/ 78120 w 77040"/>
                <a:gd name="textAreaTop" fmla="*/ 0 h 492840"/>
                <a:gd name="textAreaBottom" fmla="*/ 493920 h 492840"/>
              </a:gdLst>
              <a:ahLst/>
              <a:cxnLst/>
              <a:rect l="textAreaLeft" t="textAreaTop" r="textAreaRight" b="textAreaBottom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77" name="Freeform 18"/>
            <p:cNvSpPr/>
            <p:nvPr/>
          </p:nvSpPr>
          <p:spPr>
            <a:xfrm>
              <a:off x="769680" y="5478840"/>
              <a:ext cx="189000" cy="1023840"/>
            </a:xfrm>
            <a:custGeom>
              <a:avLst/>
              <a:gdLst>
                <a:gd name="textAreaLeft" fmla="*/ 0 w 189000"/>
                <a:gd name="textAreaRight" fmla="*/ 190080 w 189000"/>
                <a:gd name="textAreaTop" fmla="*/ 0 h 1023840"/>
                <a:gd name="textAreaBottom" fmla="*/ 1024920 h 1023840"/>
              </a:gdLst>
              <a:ahLst/>
              <a:cxnLst/>
              <a:rect l="textAreaLeft" t="textAreaTop" r="textAreaRight" b="textAreaBottom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78" name="Freeform 19"/>
            <p:cNvSpPr/>
            <p:nvPr/>
          </p:nvSpPr>
          <p:spPr>
            <a:xfrm>
              <a:off x="775440" y="1398960"/>
              <a:ext cx="2075040" cy="4047120"/>
            </a:xfrm>
            <a:custGeom>
              <a:avLst/>
              <a:gdLst>
                <a:gd name="textAreaLeft" fmla="*/ 0 w 2075040"/>
                <a:gd name="textAreaRight" fmla="*/ 2076120 w 2075040"/>
                <a:gd name="textAreaTop" fmla="*/ 0 h 4047120"/>
                <a:gd name="textAreaBottom" fmla="*/ 4048200 h 4047120"/>
              </a:gdLst>
              <a:ahLst/>
              <a:cxnLst/>
              <a:rect l="textAreaLeft" t="textAreaTop" r="textAreaRight" b="textAreaBottom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79" name="Freeform 20"/>
            <p:cNvSpPr/>
            <p:nvPr/>
          </p:nvSpPr>
          <p:spPr>
            <a:xfrm>
              <a:off x="922680" y="6530040"/>
              <a:ext cx="160920" cy="336240"/>
            </a:xfrm>
            <a:custGeom>
              <a:avLst/>
              <a:gdLst>
                <a:gd name="textAreaLeft" fmla="*/ 0 w 160920"/>
                <a:gd name="textAreaRight" fmla="*/ 162000 w 160920"/>
                <a:gd name="textAreaTop" fmla="*/ 0 h 336240"/>
                <a:gd name="textAreaBottom" fmla="*/ 337320 h 336240"/>
              </a:gdLst>
              <a:ahLst/>
              <a:cxnLst/>
              <a:rect l="textAreaLeft" t="textAreaTop" r="textAreaRight" b="textAreaBottom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80" name="Freeform 21"/>
            <p:cNvSpPr/>
            <p:nvPr/>
          </p:nvSpPr>
          <p:spPr>
            <a:xfrm>
              <a:off x="769680" y="5359320"/>
              <a:ext cx="36360" cy="220680"/>
            </a:xfrm>
            <a:custGeom>
              <a:avLst/>
              <a:gdLst>
                <a:gd name="textAreaLeft" fmla="*/ 0 w 36360"/>
                <a:gd name="textAreaRight" fmla="*/ 37440 w 36360"/>
                <a:gd name="textAreaTop" fmla="*/ 0 h 220680"/>
                <a:gd name="textAreaBottom" fmla="*/ 221760 h 220680"/>
              </a:gdLst>
              <a:ahLst/>
              <a:cxnLst/>
              <a:rect l="textAreaLeft" t="textAreaTop" r="textAreaRight" b="textAreaBottom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81" name="Freeform 22"/>
            <p:cNvSpPr/>
            <p:nvPr/>
          </p:nvSpPr>
          <p:spPr>
            <a:xfrm>
              <a:off x="849960" y="6244560"/>
              <a:ext cx="237600" cy="621360"/>
            </a:xfrm>
            <a:custGeom>
              <a:avLst/>
              <a:gdLst>
                <a:gd name="textAreaLeft" fmla="*/ 0 w 237600"/>
                <a:gd name="textAreaRight" fmla="*/ 238680 w 237600"/>
                <a:gd name="textAreaTop" fmla="*/ 0 h 621360"/>
                <a:gd name="textAreaBottom" fmla="*/ 622440 h 621360"/>
              </a:gdLst>
              <a:ahLst/>
              <a:cxnLst/>
              <a:rect l="textAreaLeft" t="textAreaTop" r="textAreaRight" b="textAreaBottom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</p:grpSp>
      <p:grpSp>
        <p:nvGrpSpPr>
          <p:cNvPr id="82" name="Group 9"/>
          <p:cNvGrpSpPr/>
          <p:nvPr/>
        </p:nvGrpSpPr>
        <p:grpSpPr>
          <a:xfrm>
            <a:off x="27360" y="-720"/>
            <a:ext cx="2355480" cy="6852960"/>
            <a:chOff x="27360" y="-720"/>
            <a:chExt cx="2355480" cy="6852960"/>
          </a:xfrm>
        </p:grpSpPr>
        <p:sp>
          <p:nvSpPr>
            <p:cNvPr id="83" name="Freeform 27"/>
            <p:cNvSpPr/>
            <p:nvPr/>
          </p:nvSpPr>
          <p:spPr>
            <a:xfrm>
              <a:off x="27360" y="-720"/>
              <a:ext cx="493200" cy="4399920"/>
            </a:xfrm>
            <a:custGeom>
              <a:avLst/>
              <a:gdLst>
                <a:gd name="textAreaLeft" fmla="*/ 0 w 493200"/>
                <a:gd name="textAreaRight" fmla="*/ 494280 w 493200"/>
                <a:gd name="textAreaTop" fmla="*/ 0 h 4399920"/>
                <a:gd name="textAreaBottom" fmla="*/ 4401000 h 4399920"/>
              </a:gdLst>
              <a:ahLst/>
              <a:cxnLst/>
              <a:rect l="textAreaLeft" t="textAreaTop" r="textAreaRight" b="textAreaBottom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84" name="Freeform 28"/>
            <p:cNvSpPr/>
            <p:nvPr/>
          </p:nvSpPr>
          <p:spPr>
            <a:xfrm>
              <a:off x="550440" y="4316400"/>
              <a:ext cx="422280" cy="1579680"/>
            </a:xfrm>
            <a:custGeom>
              <a:avLst/>
              <a:gdLst>
                <a:gd name="textAreaLeft" fmla="*/ 0 w 422280"/>
                <a:gd name="textAreaRight" fmla="*/ 423360 w 422280"/>
                <a:gd name="textAreaTop" fmla="*/ 0 h 1579680"/>
                <a:gd name="textAreaBottom" fmla="*/ 1580760 h 1579680"/>
              </a:gdLst>
              <a:ahLst/>
              <a:cxnLst/>
              <a:rect l="textAreaLeft" t="textAreaTop" r="textAreaRight" b="textAreaBottom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85" name="Freeform 29"/>
            <p:cNvSpPr/>
            <p:nvPr/>
          </p:nvSpPr>
          <p:spPr>
            <a:xfrm>
              <a:off x="1006200" y="5862600"/>
              <a:ext cx="429840" cy="989640"/>
            </a:xfrm>
            <a:custGeom>
              <a:avLst/>
              <a:gdLst>
                <a:gd name="textAreaLeft" fmla="*/ 0 w 429840"/>
                <a:gd name="textAreaRight" fmla="*/ 430920 w 429840"/>
                <a:gd name="textAreaTop" fmla="*/ 0 h 989640"/>
                <a:gd name="textAreaBottom" fmla="*/ 990720 h 989640"/>
              </a:gdLst>
              <a:ahLst/>
              <a:cxnLst/>
              <a:rect l="textAreaLeft" t="textAreaTop" r="textAreaRight" b="textAreaBottom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86" name="Freeform 30"/>
            <p:cNvSpPr/>
            <p:nvPr/>
          </p:nvSpPr>
          <p:spPr>
            <a:xfrm>
              <a:off x="521640" y="4364280"/>
              <a:ext cx="550800" cy="2234880"/>
            </a:xfrm>
            <a:custGeom>
              <a:avLst/>
              <a:gdLst>
                <a:gd name="textAreaLeft" fmla="*/ 0 w 550800"/>
                <a:gd name="textAreaRight" fmla="*/ 551880 w 550800"/>
                <a:gd name="textAreaTop" fmla="*/ 0 h 2234880"/>
                <a:gd name="textAreaBottom" fmla="*/ 2235960 h 2234880"/>
              </a:gdLst>
              <a:ahLst/>
              <a:cxnLst/>
              <a:rect l="textAreaLeft" t="textAreaTop" r="textAreaRight" b="textAreaBottom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87" name="Freeform 31"/>
            <p:cNvSpPr/>
            <p:nvPr/>
          </p:nvSpPr>
          <p:spPr>
            <a:xfrm>
              <a:off x="468000" y="1289160"/>
              <a:ext cx="173160" cy="3026160"/>
            </a:xfrm>
            <a:custGeom>
              <a:avLst/>
              <a:gdLst>
                <a:gd name="textAreaLeft" fmla="*/ 0 w 173160"/>
                <a:gd name="textAreaRight" fmla="*/ 174240 w 173160"/>
                <a:gd name="textAreaTop" fmla="*/ 0 h 3026160"/>
                <a:gd name="textAreaBottom" fmla="*/ 3027240 h 3026160"/>
              </a:gdLst>
              <a:ahLst/>
              <a:cxnLst/>
              <a:rect l="textAreaLeft" t="textAreaTop" r="textAreaRight" b="textAreaBottom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88" name="Freeform 32"/>
            <p:cNvSpPr/>
            <p:nvPr/>
          </p:nvSpPr>
          <p:spPr>
            <a:xfrm>
              <a:off x="1111680" y="6571440"/>
              <a:ext cx="133200" cy="280440"/>
            </a:xfrm>
            <a:custGeom>
              <a:avLst/>
              <a:gdLst>
                <a:gd name="textAreaLeft" fmla="*/ 0 w 133200"/>
                <a:gd name="textAreaRight" fmla="*/ 134280 w 133200"/>
                <a:gd name="textAreaTop" fmla="*/ 0 h 280440"/>
                <a:gd name="textAreaBottom" fmla="*/ 281520 h 280440"/>
              </a:gdLst>
              <a:ahLst/>
              <a:cxnLst/>
              <a:rect l="textAreaLeft" t="textAreaTop" r="textAreaRight" b="textAreaBottom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89" name="Freeform 33"/>
            <p:cNvSpPr/>
            <p:nvPr/>
          </p:nvSpPr>
          <p:spPr>
            <a:xfrm>
              <a:off x="502560" y="4107600"/>
              <a:ext cx="81360" cy="510480"/>
            </a:xfrm>
            <a:custGeom>
              <a:avLst/>
              <a:gdLst>
                <a:gd name="textAreaLeft" fmla="*/ 0 w 81360"/>
                <a:gd name="textAreaRight" fmla="*/ 82440 w 81360"/>
                <a:gd name="textAreaTop" fmla="*/ 0 h 510480"/>
                <a:gd name="textAreaBottom" fmla="*/ 511560 h 510480"/>
              </a:gdLst>
              <a:ahLst/>
              <a:cxnLst/>
              <a:rect l="textAreaLeft" t="textAreaTop" r="textAreaRight" b="textAreaBottom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90" name="Freeform 34"/>
            <p:cNvSpPr/>
            <p:nvPr/>
          </p:nvSpPr>
          <p:spPr>
            <a:xfrm>
              <a:off x="973800" y="3145680"/>
              <a:ext cx="1409040" cy="2715840"/>
            </a:xfrm>
            <a:custGeom>
              <a:avLst/>
              <a:gdLst>
                <a:gd name="textAreaLeft" fmla="*/ 0 w 1409040"/>
                <a:gd name="textAreaRight" fmla="*/ 1410120 w 1409040"/>
                <a:gd name="textAreaTop" fmla="*/ 0 h 2715840"/>
                <a:gd name="textAreaBottom" fmla="*/ 2716920 h 2715840"/>
              </a:gdLst>
              <a:ahLst/>
              <a:cxnLst/>
              <a:rect l="textAreaLeft" t="textAreaTop" r="textAreaRight" b="textAreaBottom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91" name="Freeform 35"/>
            <p:cNvSpPr/>
            <p:nvPr/>
          </p:nvSpPr>
          <p:spPr>
            <a:xfrm>
              <a:off x="1073520" y="6600240"/>
              <a:ext cx="119520" cy="252000"/>
            </a:xfrm>
            <a:custGeom>
              <a:avLst/>
              <a:gdLst>
                <a:gd name="textAreaLeft" fmla="*/ 0 w 119520"/>
                <a:gd name="textAreaRight" fmla="*/ 120600 w 119520"/>
                <a:gd name="textAreaTop" fmla="*/ 0 h 252000"/>
                <a:gd name="textAreaBottom" fmla="*/ 253080 h 252000"/>
              </a:gdLst>
              <a:ahLst/>
              <a:cxnLst/>
              <a:rect l="textAreaLeft" t="textAreaTop" r="textAreaRight" b="textAreaBottom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92" name="Freeform 36"/>
            <p:cNvSpPr/>
            <p:nvPr/>
          </p:nvSpPr>
          <p:spPr>
            <a:xfrm>
              <a:off x="973800" y="5897160"/>
              <a:ext cx="136800" cy="673200"/>
            </a:xfrm>
            <a:custGeom>
              <a:avLst/>
              <a:gdLst>
                <a:gd name="textAreaLeft" fmla="*/ 0 w 136800"/>
                <a:gd name="textAreaRight" fmla="*/ 137880 w 136800"/>
                <a:gd name="textAreaTop" fmla="*/ 0 h 673200"/>
                <a:gd name="textAreaBottom" fmla="*/ 674280 h 673200"/>
              </a:gdLst>
              <a:ahLst/>
              <a:cxnLst/>
              <a:rect l="textAreaLeft" t="textAreaTop" r="textAreaRight" b="textAreaBottom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93" name="Freeform 37"/>
            <p:cNvSpPr/>
            <p:nvPr/>
          </p:nvSpPr>
          <p:spPr>
            <a:xfrm>
              <a:off x="973800" y="5772600"/>
              <a:ext cx="37080" cy="226800"/>
            </a:xfrm>
            <a:custGeom>
              <a:avLst/>
              <a:gdLst>
                <a:gd name="textAreaLeft" fmla="*/ 0 w 37080"/>
                <a:gd name="textAreaRight" fmla="*/ 38160 w 37080"/>
                <a:gd name="textAreaTop" fmla="*/ 0 h 226800"/>
                <a:gd name="textAreaBottom" fmla="*/ 227880 h 226800"/>
              </a:gdLst>
              <a:ahLst/>
              <a:cxnLst/>
              <a:rect l="textAreaLeft" t="textAreaTop" r="textAreaRight" b="textAreaBottom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94" name="Freeform 38"/>
            <p:cNvSpPr/>
            <p:nvPr/>
          </p:nvSpPr>
          <p:spPr>
            <a:xfrm>
              <a:off x="1006200" y="6322680"/>
              <a:ext cx="209520" cy="529560"/>
            </a:xfrm>
            <a:custGeom>
              <a:avLst/>
              <a:gdLst>
                <a:gd name="textAreaLeft" fmla="*/ 0 w 209520"/>
                <a:gd name="textAreaRight" fmla="*/ 210600 w 209520"/>
                <a:gd name="textAreaTop" fmla="*/ 0 h 529560"/>
                <a:gd name="textAreaBottom" fmla="*/ 530640 h 529560"/>
              </a:gdLst>
              <a:ahLst/>
              <a:cxnLst/>
              <a:rect l="textAreaLeft" t="textAreaTop" r="textAreaRight" b="textAreaBottom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</p:grpSp>
      <p:sp>
        <p:nvSpPr>
          <p:cNvPr id="95" name="Rectangle 6"/>
          <p:cNvSpPr/>
          <p:nvPr/>
        </p:nvSpPr>
        <p:spPr>
          <a:xfrm>
            <a:off x="0" y="0"/>
            <a:ext cx="181800" cy="6856920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blurRad="38160" dist="25560" dir="5400000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96" name="Freeform 11"/>
          <p:cNvSpPr/>
          <p:nvPr/>
        </p:nvSpPr>
        <p:spPr>
          <a:xfrm flipV="1">
            <a:off x="-3240" y="712440"/>
            <a:ext cx="1587600" cy="506160"/>
          </a:xfrm>
          <a:custGeom>
            <a:avLst/>
            <a:gdLst>
              <a:gd name="textAreaLeft" fmla="*/ 0 w 1587600"/>
              <a:gd name="textAreaRight" fmla="*/ 1588680 w 1587600"/>
              <a:gd name="textAreaTop" fmla="*/ 720 h 506160"/>
              <a:gd name="textAreaBottom" fmla="*/ 507960 h 506160"/>
            </a:gdLst>
            <a:ahLst/>
            <a:cxnLst/>
            <a:rect l="textAreaLeft" t="textAreaTop" r="textAreaRight" b="textAreaBottom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97" name="PlaceHolder 1"/>
          <p:cNvSpPr>
            <a:spLocks noGrp="1"/>
          </p:cNvSpPr>
          <p:nvPr>
            <p:ph type="ftr" idx="4"/>
          </p:nvPr>
        </p:nvSpPr>
        <p:spPr>
          <a:xfrm>
            <a:off x="2589120" y="6135840"/>
            <a:ext cx="7619040" cy="36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8" name="PlaceHolder 2"/>
          <p:cNvSpPr>
            <a:spLocks noGrp="1"/>
          </p:cNvSpPr>
          <p:nvPr>
            <p:ph type="sldNum" idx="5"/>
          </p:nvPr>
        </p:nvSpPr>
        <p:spPr>
          <a:xfrm>
            <a:off x="531720" y="787680"/>
            <a:ext cx="778680" cy="36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2000" b="0" strike="noStrike" spc="-1">
                <a:solidFill>
                  <a:srgbClr val="FEFFFF"/>
                </a:solidFill>
                <a:latin typeface="Century Gothic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F2B921F0-62C1-4466-A024-9DBCE0C61CEA}" type="slidenum">
              <a:rPr lang="en-US" sz="2000" b="0" strike="noStrike" spc="-1">
                <a:solidFill>
                  <a:srgbClr val="FEFFFF"/>
                </a:solidFill>
                <a:latin typeface="Century Gothic"/>
              </a:rPr>
              <a:t>‹#›</a:t>
            </a:fld>
            <a:endParaRPr lang="en-US" sz="2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9" name="PlaceHolder 3"/>
          <p:cNvSpPr>
            <a:spLocks noGrp="1"/>
          </p:cNvSpPr>
          <p:nvPr>
            <p:ph type="dt" idx="6"/>
          </p:nvPr>
        </p:nvSpPr>
        <p:spPr>
          <a:xfrm>
            <a:off x="10361520" y="6130440"/>
            <a:ext cx="1145160" cy="3693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fld id="{013FB30A-CAD2-43AD-87BB-F23485720ED5}" type="datetime1">
              <a:rPr lang="en-US" sz="1400" b="0" strike="noStrike" spc="-1" smtClean="0">
                <a:solidFill>
                  <a:srgbClr val="000000"/>
                </a:solidFill>
                <a:latin typeface="Times New Roman"/>
              </a:rPr>
              <a:t>9/7/2025</a:t>
            </a:fld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0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en-US" sz="44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101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  <p:extLst>
      <p:ext uri="{BB962C8B-B14F-4D97-AF65-F5344CB8AC3E}">
        <p14:creationId xmlns:p14="http://schemas.microsoft.com/office/powerpoint/2010/main" val="42346447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ernel.org/doc/html/v4.9/media/uapi/v4l/user-func.html" TargetMode="External"/><Relationship Id="rId2" Type="http://schemas.openxmlformats.org/officeDocument/2006/relationships/hyperlink" Target="https://elixir.bootlin.com/linux/v6.16/source/include/uapi/linux/videodev2.h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kernel.org/doc/html/v4.9/media/uapi/v4l/mmap.html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kernel.org/doc/html/v4.9/media/uapi/v4l/func-select.html" TargetMode="External"/><Relationship Id="rId3" Type="http://schemas.openxmlformats.org/officeDocument/2006/relationships/hyperlink" Target="https://www.kernel.org/doc/html/v4.9/media/uapi/v4l/vidioc-g-fmt.html" TargetMode="External"/><Relationship Id="rId7" Type="http://schemas.openxmlformats.org/officeDocument/2006/relationships/hyperlink" Target="https://www.kernel.org/doc/html/v4.9/media/uapi/v4l/vidioc-streamon.html" TargetMode="External"/><Relationship Id="rId2" Type="http://schemas.openxmlformats.org/officeDocument/2006/relationships/hyperlink" Target="https://www.kernel.org/doc/html/v4.9/media/uapi/v4l/vidioc-querycap.html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kernel.org/doc/html/v4.9/media/uapi/v4l/vidioc-qbuf.html" TargetMode="External"/><Relationship Id="rId5" Type="http://schemas.openxmlformats.org/officeDocument/2006/relationships/hyperlink" Target="https://www.kernel.org/doc/html/v4.9/media/uapi/v4l/vidioc-querybuf.html" TargetMode="External"/><Relationship Id="rId4" Type="http://schemas.openxmlformats.org/officeDocument/2006/relationships/hyperlink" Target="https://www.kernel.org/doc/html/v4.9/media/uapi/v4l/vidioc-reqbufs.html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elixir.bootlin.com/linux/v6.16.3/source/drivers/media/v4l2-core/v4l2-ioctl.c#L1092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elixir.bootlin.com/linux/v6.16.5/source/include/uapi/linux/videodev2.h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www.kernel.org/doc/html/v4.9/media/uapi/v4l/user-func.html" TargetMode="External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BFF9F4-4928-4813-BF6E-260DEAF12F9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>
                <a:latin typeface="Consolas" panose="020B0609020204030204" pitchFamily="49" charset="0"/>
              </a:rPr>
              <a:t>v4l2</a:t>
            </a:r>
            <a:r>
              <a:rPr lang="en-US" dirty="0"/>
              <a:t> capture example </a:t>
            </a:r>
            <a:br>
              <a:rPr lang="en-US" dirty="0"/>
            </a:br>
            <a:r>
              <a:rPr lang="en-US" dirty="0"/>
              <a:t>in C </a:t>
            </a:r>
            <a:r>
              <a:rPr lang="en-US" sz="2800" dirty="0"/>
              <a:t>(Step by Step)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CFA1BA-B1A1-4A0C-8A2F-211B7B9F867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By Arash Golgol</a:t>
            </a:r>
          </a:p>
        </p:txBody>
      </p:sp>
    </p:spTree>
    <p:extLst>
      <p:ext uri="{BB962C8B-B14F-4D97-AF65-F5344CB8AC3E}">
        <p14:creationId xmlns:p14="http://schemas.microsoft.com/office/powerpoint/2010/main" val="13641298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4ABD4B-49C9-4017-998B-E8C2F8FDB1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C8096B-43C1-4E7A-905C-8F0E0CDF2D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problem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 quick review of </a:t>
            </a:r>
            <a:r>
              <a:rPr lang="en-US" b="1" dirty="0">
                <a:latin typeface="Consolas" panose="020B0609020204030204" pitchFamily="49" charset="0"/>
              </a:rPr>
              <a:t>v4l2</a:t>
            </a:r>
            <a:r>
              <a:rPr lang="en-US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Overview of solution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03935F-9025-4396-B137-B15591768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16002-258E-4D5D-B321-70C4EFBBF90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6439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18A341-6069-402E-B88F-7880C315AC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2EF973-C5F3-4A09-B76B-EA0D720C17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Write C program which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Capture single frame from webcam and save it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Don’t use any library (e.g. </a:t>
            </a:r>
            <a:r>
              <a:rPr lang="en-US" dirty="0">
                <a:latin typeface="Consolas" panose="020B0609020204030204" pitchFamily="49" charset="0"/>
              </a:rPr>
              <a:t>opencv</a:t>
            </a:r>
            <a:r>
              <a:rPr lang="en-US" dirty="0"/>
              <a:t>, </a:t>
            </a:r>
            <a:r>
              <a:rPr lang="en-US" dirty="0">
                <a:latin typeface="Consolas" panose="020B0609020204030204" pitchFamily="49" charset="0"/>
              </a:rPr>
              <a:t>gstreamer</a:t>
            </a:r>
            <a:r>
              <a:rPr lang="en-US" dirty="0"/>
              <a:t>, </a:t>
            </a:r>
            <a:r>
              <a:rPr lang="en-US" dirty="0">
                <a:latin typeface="Consolas" panose="020B0609020204030204" pitchFamily="49" charset="0"/>
              </a:rPr>
              <a:t>libcamera</a:t>
            </a:r>
            <a:r>
              <a:rPr lang="en-US" dirty="0"/>
              <a:t>, … )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Resources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Check Linux man pages 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US" dirty="0"/>
              <a:t>Check </a:t>
            </a:r>
            <a:r>
              <a:rPr lang="en-US" dirty="0">
                <a:hlinkClick r:id="rId2"/>
              </a:rPr>
              <a:t>videodev2.h</a:t>
            </a:r>
            <a:r>
              <a:rPr lang="en-US" dirty="0"/>
              <a:t> file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Check</a:t>
            </a:r>
            <a:r>
              <a:rPr lang="en-US" dirty="0">
                <a:latin typeface="Consolas" panose="020B0609020204030204" pitchFamily="49" charset="0"/>
              </a:rPr>
              <a:t> v4l2</a:t>
            </a:r>
            <a:r>
              <a:rPr lang="en-US" dirty="0"/>
              <a:t> user space api </a:t>
            </a:r>
            <a:r>
              <a:rPr lang="en-US" dirty="0">
                <a:hlinkClick r:id="rId3"/>
              </a:rPr>
              <a:t>documentation</a:t>
            </a:r>
            <a:r>
              <a:rPr lang="en-US" dirty="0"/>
              <a:t>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Check Streaming I/O </a:t>
            </a:r>
            <a:r>
              <a:rPr lang="en-US" dirty="0">
                <a:hlinkClick r:id="rId4"/>
              </a:rPr>
              <a:t>example</a:t>
            </a:r>
            <a:r>
              <a:rPr lang="en-US" dirty="0"/>
              <a:t>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321A16-D49C-40DB-978E-5F7D4B9528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16002-258E-4D5D-B321-70C4EFBBF90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51978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PlaceHolder 1"/>
          <p:cNvSpPr>
            <a:spLocks noGrp="1"/>
          </p:cNvSpPr>
          <p:nvPr>
            <p:ph type="title" idx="4294967295"/>
          </p:nvPr>
        </p:nvSpPr>
        <p:spPr>
          <a:xfrm>
            <a:off x="2593080" y="624240"/>
            <a:ext cx="8910720" cy="1279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0" strike="noStrike" spc="-1" dirty="0">
                <a:solidFill>
                  <a:srgbClr val="262626"/>
                </a:solidFill>
                <a:latin typeface="Consolas" panose="020B0609020204030204" pitchFamily="49" charset="0"/>
              </a:rPr>
              <a:t>v4l2</a:t>
            </a:r>
            <a:r>
              <a:rPr lang="en-US" sz="3600" b="0" strike="noStrike" spc="-1" dirty="0">
                <a:solidFill>
                  <a:srgbClr val="262626"/>
                </a:solidFill>
                <a:latin typeface="Century Gothic"/>
              </a:rPr>
              <a:t> overview </a:t>
            </a:r>
            <a:endParaRPr lang="en-US" sz="3600" b="0" strike="noStrike" spc="-1" dirty="0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74" name="Straight Connector 5"/>
          <p:cNvCxnSpPr/>
          <p:nvPr/>
        </p:nvCxnSpPr>
        <p:spPr>
          <a:xfrm>
            <a:off x="3867120" y="1657080"/>
            <a:ext cx="1080" cy="4894560"/>
          </a:xfrm>
          <a:prstGeom prst="straightConnector1">
            <a:avLst/>
          </a:prstGeom>
          <a:ln w="38100" cap="rnd">
            <a:solidFill>
              <a:srgbClr val="9D2D0F"/>
            </a:solidFill>
            <a:prstDash val="dashDot"/>
            <a:round/>
          </a:ln>
        </p:spPr>
      </p:cxnSp>
      <p:sp>
        <p:nvSpPr>
          <p:cNvPr id="175" name="TextBox 6"/>
          <p:cNvSpPr/>
          <p:nvPr/>
        </p:nvSpPr>
        <p:spPr>
          <a:xfrm>
            <a:off x="6654600" y="6181200"/>
            <a:ext cx="166644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-1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/>
                <a:ea typeface="DejaVu Sans"/>
              </a:rPr>
              <a:t>Kernel Space</a:t>
            </a: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</a:endParaRPr>
          </a:p>
        </p:txBody>
      </p:sp>
      <p:sp>
        <p:nvSpPr>
          <p:cNvPr id="176" name="TextBox 8"/>
          <p:cNvSpPr/>
          <p:nvPr/>
        </p:nvSpPr>
        <p:spPr>
          <a:xfrm>
            <a:off x="2287440" y="6181200"/>
            <a:ext cx="146880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-1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/>
                <a:ea typeface="DejaVu Sans"/>
              </a:rPr>
              <a:t>User Space</a:t>
            </a: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</a:endParaRPr>
          </a:p>
        </p:txBody>
      </p:sp>
      <p:cxnSp>
        <p:nvCxnSpPr>
          <p:cNvPr id="177" name="Straight Connector 9"/>
          <p:cNvCxnSpPr/>
          <p:nvPr/>
        </p:nvCxnSpPr>
        <p:spPr>
          <a:xfrm>
            <a:off x="10505880" y="1657080"/>
            <a:ext cx="1080" cy="4894560"/>
          </a:xfrm>
          <a:prstGeom prst="straightConnector1">
            <a:avLst/>
          </a:prstGeom>
          <a:ln w="38100" cap="rnd">
            <a:solidFill>
              <a:srgbClr val="9D2D0F"/>
            </a:solidFill>
            <a:prstDash val="dashDot"/>
            <a:round/>
          </a:ln>
        </p:spPr>
      </p:cxnSp>
      <p:sp>
        <p:nvSpPr>
          <p:cNvPr id="178" name="TextBox 10"/>
          <p:cNvSpPr/>
          <p:nvPr/>
        </p:nvSpPr>
        <p:spPr>
          <a:xfrm>
            <a:off x="10628280" y="6181200"/>
            <a:ext cx="128376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-1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/>
                <a:ea typeface="DejaVu Sans"/>
              </a:rPr>
              <a:t>Hardware</a:t>
            </a: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</a:endParaRPr>
          </a:p>
        </p:txBody>
      </p:sp>
      <p:sp>
        <p:nvSpPr>
          <p:cNvPr id="179" name="TextBox 11"/>
          <p:cNvSpPr/>
          <p:nvPr/>
        </p:nvSpPr>
        <p:spPr>
          <a:xfrm>
            <a:off x="2097360" y="3489120"/>
            <a:ext cx="168840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-1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DejaVu Sans"/>
              </a:rPr>
              <a:t>/dev/video0</a:t>
            </a: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</a:endParaRPr>
          </a:p>
        </p:txBody>
      </p:sp>
      <p:sp>
        <p:nvSpPr>
          <p:cNvPr id="180" name="Cloud 12"/>
          <p:cNvSpPr/>
          <p:nvPr/>
        </p:nvSpPr>
        <p:spPr>
          <a:xfrm>
            <a:off x="4172040" y="1570320"/>
            <a:ext cx="6216480" cy="4575600"/>
          </a:xfrm>
          <a:prstGeom prst="cloud">
            <a:avLst/>
          </a:prstGeom>
          <a:solidFill>
            <a:schemeClr val="accent3">
              <a:lumMod val="20000"/>
              <a:lumOff val="80000"/>
            </a:schemeClr>
          </a:solidFill>
          <a:ln cap="rnd">
            <a:solidFill>
              <a:srgbClr val="7A230B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entury Gothic"/>
              <a:ea typeface="DejaVu Sans"/>
            </a:endParaRPr>
          </a:p>
        </p:txBody>
      </p:sp>
      <p:sp>
        <p:nvSpPr>
          <p:cNvPr id="181" name="Rectangle 13"/>
          <p:cNvSpPr/>
          <p:nvPr/>
        </p:nvSpPr>
        <p:spPr>
          <a:xfrm>
            <a:off x="10672920" y="2769120"/>
            <a:ext cx="1294560" cy="673560"/>
          </a:xfrm>
          <a:prstGeom prst="rect">
            <a:avLst/>
          </a:prstGeom>
          <a:solidFill>
            <a:srgbClr val="00B050"/>
          </a:solidFill>
          <a:ln cap="rnd">
            <a:solidFill>
              <a:srgbClr val="7A230B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-1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/>
                <a:ea typeface="DejaVu Sans"/>
              </a:rPr>
              <a:t>ISP</a:t>
            </a: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</a:endParaRPr>
          </a:p>
        </p:txBody>
      </p:sp>
      <p:sp>
        <p:nvSpPr>
          <p:cNvPr id="182" name="Rectangle 14"/>
          <p:cNvSpPr/>
          <p:nvPr/>
        </p:nvSpPr>
        <p:spPr>
          <a:xfrm>
            <a:off x="10672920" y="4350600"/>
            <a:ext cx="1294560" cy="670680"/>
          </a:xfrm>
          <a:prstGeom prst="rect">
            <a:avLst/>
          </a:prstGeom>
          <a:solidFill>
            <a:srgbClr val="FFC000"/>
          </a:solidFill>
          <a:ln cap="rnd">
            <a:solidFill>
              <a:srgbClr val="7A230B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-1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/>
                <a:ea typeface="DejaVu Sans"/>
              </a:rPr>
              <a:t>I</a:t>
            </a:r>
            <a:r>
              <a:rPr kumimoji="0" lang="en-US" sz="1800" b="0" i="0" u="none" strike="noStrike" kern="1200" cap="none" spc="-1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/>
                <a:ea typeface="DejaVu Sans"/>
              </a:rPr>
              <a:t>2</a:t>
            </a:r>
            <a:r>
              <a:rPr kumimoji="0" lang="en-US" sz="1800" b="0" i="0" u="none" strike="noStrike" kern="1200" cap="none" spc="-1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/>
                <a:ea typeface="DejaVu Sans"/>
              </a:rPr>
              <a:t>C / SPI</a:t>
            </a: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-1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/>
                <a:ea typeface="DejaVu Sans"/>
              </a:rPr>
              <a:t>master</a:t>
            </a: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</a:endParaRPr>
          </a:p>
        </p:txBody>
      </p:sp>
      <p:sp>
        <p:nvSpPr>
          <p:cNvPr id="183" name="Rectangle 15"/>
          <p:cNvSpPr/>
          <p:nvPr/>
        </p:nvSpPr>
        <p:spPr>
          <a:xfrm>
            <a:off x="10672920" y="1992240"/>
            <a:ext cx="1294560" cy="673560"/>
          </a:xfrm>
          <a:prstGeom prst="rect">
            <a:avLst/>
          </a:prstGeom>
          <a:solidFill>
            <a:srgbClr val="7030A0"/>
          </a:solidFill>
          <a:ln cap="rnd">
            <a:solidFill>
              <a:srgbClr val="7A230B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-1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/>
                <a:ea typeface="DejaVu Sans"/>
              </a:rPr>
              <a:t>Image Capture</a:t>
            </a: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</a:endParaRPr>
          </a:p>
        </p:txBody>
      </p:sp>
      <p:sp>
        <p:nvSpPr>
          <p:cNvPr id="184" name="Rectangle 16"/>
          <p:cNvSpPr/>
          <p:nvPr/>
        </p:nvSpPr>
        <p:spPr>
          <a:xfrm>
            <a:off x="10672920" y="5123880"/>
            <a:ext cx="1294560" cy="707400"/>
          </a:xfrm>
          <a:prstGeom prst="rect">
            <a:avLst/>
          </a:prstGeom>
          <a:solidFill>
            <a:srgbClr val="FFFF00"/>
          </a:solidFill>
          <a:ln cap="rnd">
            <a:solidFill>
              <a:srgbClr val="7A230B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-1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/>
                <a:ea typeface="DejaVu Sans"/>
              </a:rPr>
              <a:t>DMA</a:t>
            </a: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</a:endParaRPr>
          </a:p>
        </p:txBody>
      </p:sp>
      <p:sp>
        <p:nvSpPr>
          <p:cNvPr id="185" name="Rectangle 17"/>
          <p:cNvSpPr/>
          <p:nvPr/>
        </p:nvSpPr>
        <p:spPr>
          <a:xfrm>
            <a:off x="10672920" y="3568680"/>
            <a:ext cx="1294560" cy="679320"/>
          </a:xfrm>
          <a:prstGeom prst="rect">
            <a:avLst/>
          </a:prstGeom>
          <a:solidFill>
            <a:schemeClr val="accent6">
              <a:lumMod val="75000"/>
            </a:schemeClr>
          </a:solidFill>
          <a:ln cap="rnd">
            <a:solidFill>
              <a:srgbClr val="7A230B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-1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/>
                <a:ea typeface="DejaVu Sans"/>
              </a:rPr>
              <a:t>Memory</a:t>
            </a: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</a:endParaRPr>
          </a:p>
        </p:txBody>
      </p:sp>
      <p:sp>
        <p:nvSpPr>
          <p:cNvPr id="186" name="TextBox 18"/>
          <p:cNvSpPr/>
          <p:nvPr/>
        </p:nvSpPr>
        <p:spPr>
          <a:xfrm>
            <a:off x="5112360" y="2077920"/>
            <a:ext cx="667440" cy="333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-1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DejaVu Sans"/>
              </a:rPr>
              <a:t>v4l2</a:t>
            </a:r>
            <a:endParaRPr kumimoji="0" lang="en-US" sz="16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</a:endParaRPr>
          </a:p>
        </p:txBody>
      </p:sp>
      <p:sp>
        <p:nvSpPr>
          <p:cNvPr id="187" name="Cloud 19"/>
          <p:cNvSpPr/>
          <p:nvPr/>
        </p:nvSpPr>
        <p:spPr>
          <a:xfrm>
            <a:off x="6109200" y="2588400"/>
            <a:ext cx="1586160" cy="826200"/>
          </a:xfrm>
          <a:prstGeom prst="cloud">
            <a:avLst/>
          </a:prstGeom>
          <a:solidFill>
            <a:srgbClr val="FFC000"/>
          </a:solidFill>
          <a:ln cap="rnd">
            <a:solidFill>
              <a:srgbClr val="7A230B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-1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DejaVu Sans"/>
              </a:rPr>
              <a:t>subdev</a:t>
            </a: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</a:endParaRPr>
          </a:p>
        </p:txBody>
      </p:sp>
      <p:sp>
        <p:nvSpPr>
          <p:cNvPr id="188" name="Cloud 20"/>
          <p:cNvSpPr/>
          <p:nvPr/>
        </p:nvSpPr>
        <p:spPr>
          <a:xfrm>
            <a:off x="5198760" y="3904560"/>
            <a:ext cx="1551600" cy="870120"/>
          </a:xfrm>
          <a:prstGeom prst="cloud">
            <a:avLst/>
          </a:prstGeom>
          <a:solidFill>
            <a:srgbClr val="FFFF00"/>
          </a:solidFill>
          <a:ln cap="rnd">
            <a:solidFill>
              <a:srgbClr val="7A230B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-1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DejaVu Sans"/>
              </a:rPr>
              <a:t>video buffer</a:t>
            </a: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</a:endParaRPr>
          </a:p>
        </p:txBody>
      </p:sp>
      <p:sp>
        <p:nvSpPr>
          <p:cNvPr id="189" name="Cloud 21"/>
          <p:cNvSpPr/>
          <p:nvPr/>
        </p:nvSpPr>
        <p:spPr>
          <a:xfrm>
            <a:off x="7204680" y="3673800"/>
            <a:ext cx="1551600" cy="870120"/>
          </a:xfrm>
          <a:prstGeom prst="cloud">
            <a:avLst/>
          </a:prstGeom>
          <a:solidFill>
            <a:srgbClr val="7030A0"/>
          </a:solidFill>
          <a:ln cap="rnd">
            <a:solidFill>
              <a:srgbClr val="7A230B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-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DejaVu Sans"/>
              </a:rPr>
              <a:t>ioctl ops</a:t>
            </a:r>
            <a:endParaRPr kumimoji="0" lang="en-US" sz="18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</a:endParaRPr>
          </a:p>
        </p:txBody>
      </p:sp>
      <p:sp>
        <p:nvSpPr>
          <p:cNvPr id="21" name="TextBox 13">
            <a:extLst>
              <a:ext uri="{FF2B5EF4-FFF2-40B4-BE49-F238E27FC236}">
                <a16:creationId xmlns:a16="http://schemas.microsoft.com/office/drawing/2014/main" id="{FBD0B86C-DEDA-4180-A5F6-9E62C82E7871}"/>
              </a:ext>
            </a:extLst>
          </p:cNvPr>
          <p:cNvSpPr/>
          <p:nvPr/>
        </p:nvSpPr>
        <p:spPr>
          <a:xfrm>
            <a:off x="586603" y="2817608"/>
            <a:ext cx="1078414" cy="184520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b="0" strike="noStrike" spc="-1" dirty="0">
                <a:solidFill>
                  <a:srgbClr val="000000"/>
                </a:solidFill>
                <a:latin typeface="Consolas"/>
                <a:ea typeface="DejaVu Sans"/>
              </a:rPr>
              <a:t>open()</a:t>
            </a:r>
            <a:endParaRPr lang="en-US" sz="1600" b="0" strike="noStrike" spc="-1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0" strike="noStrike" spc="-1" dirty="0">
                <a:solidFill>
                  <a:srgbClr val="000000"/>
                </a:solidFill>
                <a:latin typeface="Consolas"/>
                <a:ea typeface="DejaVu Sans"/>
              </a:rPr>
              <a:t>close()</a:t>
            </a:r>
            <a:endParaRPr lang="en-US" sz="1600" b="0" strike="noStrike" spc="-1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0" strike="noStrike" spc="-1" dirty="0">
                <a:solidFill>
                  <a:srgbClr val="000000"/>
                </a:solidFill>
                <a:latin typeface="Consolas"/>
                <a:ea typeface="DejaVu Sans"/>
              </a:rPr>
              <a:t>read()</a:t>
            </a:r>
            <a:endParaRPr lang="en-US" sz="1600" b="0" strike="noStrike" spc="-1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0" strike="noStrike" spc="-1" dirty="0">
                <a:solidFill>
                  <a:srgbClr val="000000"/>
                </a:solidFill>
                <a:latin typeface="Consolas"/>
                <a:ea typeface="DejaVu Sans"/>
              </a:rPr>
              <a:t>write()</a:t>
            </a:r>
            <a:endParaRPr lang="en-US" sz="1600" b="0" strike="noStrike" spc="-1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0" strike="noStrike" spc="-1" dirty="0">
                <a:solidFill>
                  <a:srgbClr val="000000"/>
                </a:solidFill>
                <a:latin typeface="Consolas"/>
                <a:ea typeface="DejaVu Sans"/>
              </a:rPr>
              <a:t>ioctl() </a:t>
            </a:r>
            <a:endParaRPr lang="en-US" sz="1600" b="0" strike="noStrike" spc="-1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0" strike="noStrike" spc="-1" dirty="0">
                <a:solidFill>
                  <a:srgbClr val="000000"/>
                </a:solidFill>
                <a:latin typeface="Consolas"/>
                <a:ea typeface="DejaVu Sans"/>
              </a:rPr>
              <a:t>select()</a:t>
            </a:r>
            <a:endParaRPr lang="en-US" sz="1600" b="0" strike="noStrike" spc="-1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0" strike="noStrike" spc="-1" dirty="0" err="1">
                <a:solidFill>
                  <a:srgbClr val="000000"/>
                </a:solidFill>
                <a:latin typeface="Consolas"/>
                <a:ea typeface="DejaVu Sans"/>
              </a:rPr>
              <a:t>mmap</a:t>
            </a:r>
            <a:r>
              <a:rPr lang="en-US" sz="1600" b="0" strike="noStrike" spc="-1" dirty="0">
                <a:solidFill>
                  <a:srgbClr val="000000"/>
                </a:solidFill>
                <a:latin typeface="Consolas"/>
                <a:ea typeface="DejaVu Sans"/>
              </a:rPr>
              <a:t>()</a:t>
            </a:r>
            <a:endParaRPr lang="en-US" sz="16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Right Brace 14">
            <a:extLst>
              <a:ext uri="{FF2B5EF4-FFF2-40B4-BE49-F238E27FC236}">
                <a16:creationId xmlns:a16="http://schemas.microsoft.com/office/drawing/2014/main" id="{DB916515-3404-4817-BB38-6C3F4C6E65BE}"/>
              </a:ext>
            </a:extLst>
          </p:cNvPr>
          <p:cNvSpPr/>
          <p:nvPr/>
        </p:nvSpPr>
        <p:spPr>
          <a:xfrm>
            <a:off x="1300877" y="2701245"/>
            <a:ext cx="728280" cy="2036087"/>
          </a:xfrm>
          <a:prstGeom prst="rightBrace">
            <a:avLst>
              <a:gd name="adj1" fmla="val 8333"/>
              <a:gd name="adj2" fmla="val 50000"/>
            </a:avLst>
          </a:prstGeom>
          <a:noFill/>
          <a:ln cap="rnd">
            <a:solidFill>
              <a:srgbClr val="9D2D0F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Century Gothic"/>
              <a:ea typeface="DejaVu Sans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42B9B66-51C5-47B3-B409-1A997660A106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130B98FF-4A02-4D16-9C69-04FB3D46DB77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67C4E0-4DC4-47B3-B3D6-C6DE878F4C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 materials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8BF3B0-6A93-4CEB-9A5C-54D320B37B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We only need </a:t>
            </a:r>
            <a:r>
              <a:rPr lang="en-US" b="1" dirty="0"/>
              <a:t>C</a:t>
            </a:r>
            <a:r>
              <a:rPr lang="en-US" dirty="0"/>
              <a:t> library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latin typeface="Consolas" panose="020B0609020204030204" pitchFamily="49" charset="0"/>
              </a:rPr>
              <a:t>open() , close()</a:t>
            </a:r>
            <a:r>
              <a:rPr lang="en-US" dirty="0"/>
              <a:t>: Every other system calls need file descriptor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latin typeface="Consolas" panose="020B0609020204030204" pitchFamily="49" charset="0"/>
              </a:rPr>
              <a:t>select()</a:t>
            </a:r>
            <a:r>
              <a:rPr lang="en-US" dirty="0"/>
              <a:t>: IO multiplexing and wait for frame to become ready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 err="1">
                <a:latin typeface="Consolas" panose="020B0609020204030204" pitchFamily="49" charset="0"/>
              </a:rPr>
              <a:t>mmap</a:t>
            </a:r>
            <a:r>
              <a:rPr lang="en-US" dirty="0">
                <a:latin typeface="Consolas" panose="020B0609020204030204" pitchFamily="49" charset="0"/>
              </a:rPr>
              <a:t>()</a:t>
            </a:r>
            <a:r>
              <a:rPr lang="en-US" dirty="0"/>
              <a:t>: Map kernel space buffers (containing frames) into user space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latin typeface="Consolas" panose="020B0609020204030204" pitchFamily="49" charset="0"/>
              </a:rPr>
              <a:t>ioctl()</a:t>
            </a:r>
            <a:r>
              <a:rPr lang="en-US" dirty="0"/>
              <a:t>: Configuration and control of </a:t>
            </a:r>
            <a:r>
              <a:rPr lang="en-US" dirty="0">
                <a:latin typeface="Consolas" panose="020B0609020204030204" pitchFamily="49" charset="0"/>
              </a:rPr>
              <a:t>v4l2</a:t>
            </a:r>
            <a:r>
              <a:rPr lang="en-US" dirty="0"/>
              <a:t> device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latin typeface="Consolas" panose="020B0609020204030204" pitchFamily="49" charset="0"/>
              </a:rPr>
              <a:t>write()</a:t>
            </a:r>
            <a:r>
              <a:rPr lang="en-US" dirty="0"/>
              <a:t>: ??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And lot’s of effort </a:t>
            </a:r>
            <a:r>
              <a:rPr lang="en-US" dirty="0">
                <a:sym typeface="Wingdings" panose="05000000000000000000" pitchFamily="2" charset="2"/>
              </a:rPr>
              <a:t> 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3DCD4D-43A0-4B89-8F0E-E0357134E6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16002-258E-4D5D-B321-70C4EFBBF90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89486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D97258-FBAF-4B24-A8B8-6C41C95204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Capture process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1D23321-FEDF-4831-A331-E1BD1E4BF4A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9016"/>
          <a:stretch/>
        </p:blipFill>
        <p:spPr>
          <a:xfrm>
            <a:off x="4038206" y="1347565"/>
            <a:ext cx="6021124" cy="5029200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991652B-5716-41F7-997E-A285EE993D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16002-258E-4D5D-B321-70C4EFBBF90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41290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C00030-6791-47A9-89C4-0B2ACBBBA8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DDBD88-E033-456E-9166-DAD0DABA89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4400550"/>
          </a:xfrm>
        </p:spPr>
        <p:txBody>
          <a:bodyPr>
            <a:normAutofit lnSpcReduction="10000"/>
          </a:bodyPr>
          <a:lstStyle/>
          <a:p>
            <a:pPr>
              <a:buFont typeface="+mj-lt"/>
              <a:buAutoNum type="arabicPeriod"/>
            </a:pPr>
            <a:r>
              <a:rPr lang="en-US" dirty="0"/>
              <a:t>Open target camera device (e.g. /dev/video0)</a:t>
            </a:r>
          </a:p>
          <a:p>
            <a:pPr>
              <a:buFont typeface="+mj-lt"/>
              <a:buAutoNum type="arabicPeriod"/>
            </a:pPr>
            <a:r>
              <a:rPr lang="en-US" dirty="0"/>
              <a:t>Check it’s </a:t>
            </a:r>
            <a:r>
              <a:rPr lang="en-US" dirty="0">
                <a:hlinkClick r:id="rId2"/>
              </a:rPr>
              <a:t>capabilities</a:t>
            </a:r>
            <a:r>
              <a:rPr lang="en-US" dirty="0"/>
              <a:t> for capture and streaming (</a:t>
            </a:r>
            <a:r>
              <a:rPr lang="en-US" dirty="0">
                <a:latin typeface="Consolas" panose="020B0609020204030204" pitchFamily="49" charset="0"/>
              </a:rPr>
              <a:t>VIDIOC_QUERYCAP</a:t>
            </a:r>
            <a:r>
              <a:rPr lang="en-US" dirty="0"/>
              <a:t>)</a:t>
            </a:r>
          </a:p>
          <a:p>
            <a:pPr>
              <a:buFont typeface="+mj-lt"/>
              <a:buAutoNum type="arabicPeriod"/>
            </a:pPr>
            <a:r>
              <a:rPr lang="en-US" dirty="0"/>
              <a:t>Check / Configure it’s </a:t>
            </a:r>
            <a:r>
              <a:rPr lang="en-US" dirty="0">
                <a:hlinkClick r:id="rId3"/>
              </a:rPr>
              <a:t>frame size, pixel format</a:t>
            </a:r>
            <a:r>
              <a:rPr lang="en-US" dirty="0"/>
              <a:t>, … (</a:t>
            </a:r>
            <a:r>
              <a:rPr lang="en-US" dirty="0">
                <a:latin typeface="Consolas" panose="020B0609020204030204" pitchFamily="49" charset="0"/>
              </a:rPr>
              <a:t>VIDIOC_G_FMT</a:t>
            </a:r>
            <a:r>
              <a:rPr lang="en-US" dirty="0"/>
              <a:t>)</a:t>
            </a:r>
          </a:p>
          <a:p>
            <a:pPr>
              <a:buFont typeface="+mj-lt"/>
              <a:buAutoNum type="arabicPeriod"/>
            </a:pPr>
            <a:r>
              <a:rPr lang="en-US" dirty="0">
                <a:hlinkClick r:id="rId4"/>
              </a:rPr>
              <a:t>Request</a:t>
            </a:r>
            <a:r>
              <a:rPr lang="en-US" dirty="0"/>
              <a:t> at least 3 buffer (</a:t>
            </a:r>
            <a:r>
              <a:rPr lang="en-US" dirty="0">
                <a:latin typeface="Consolas" panose="020B0609020204030204" pitchFamily="49" charset="0"/>
              </a:rPr>
              <a:t>VIDIOC_REQBUFS</a:t>
            </a:r>
            <a:r>
              <a:rPr lang="en-US" dirty="0"/>
              <a:t>)</a:t>
            </a:r>
          </a:p>
          <a:p>
            <a:pPr>
              <a:buFont typeface="+mj-lt"/>
              <a:buAutoNum type="arabicPeriod"/>
            </a:pPr>
            <a:r>
              <a:rPr lang="en-US" dirty="0">
                <a:hlinkClick r:id="rId5"/>
              </a:rPr>
              <a:t>Query</a:t>
            </a:r>
            <a:r>
              <a:rPr lang="en-US" dirty="0"/>
              <a:t> buffers information and map them (</a:t>
            </a:r>
            <a:r>
              <a:rPr lang="en-US" dirty="0">
                <a:latin typeface="Consolas" panose="020B0609020204030204" pitchFamily="49" charset="0"/>
              </a:rPr>
              <a:t>VIDIOC_QUERYBUF</a:t>
            </a:r>
            <a:r>
              <a:rPr lang="en-US" dirty="0"/>
              <a:t>)</a:t>
            </a:r>
          </a:p>
          <a:p>
            <a:pPr>
              <a:buFont typeface="+mj-lt"/>
              <a:buAutoNum type="arabicPeriod"/>
            </a:pPr>
            <a:r>
              <a:rPr lang="en-US" dirty="0">
                <a:hlinkClick r:id="rId6"/>
              </a:rPr>
              <a:t>Enqueue</a:t>
            </a:r>
            <a:r>
              <a:rPr lang="en-US" dirty="0"/>
              <a:t> buffers into driver queue (</a:t>
            </a:r>
            <a:r>
              <a:rPr lang="en-US" dirty="0">
                <a:latin typeface="Consolas" panose="020B0609020204030204" pitchFamily="49" charset="0"/>
              </a:rPr>
              <a:t>VIDIOC_QBUF</a:t>
            </a:r>
            <a:r>
              <a:rPr lang="en-US" dirty="0"/>
              <a:t>)</a:t>
            </a:r>
          </a:p>
          <a:p>
            <a:pPr>
              <a:buFont typeface="+mj-lt"/>
              <a:buAutoNum type="arabicPeriod"/>
            </a:pPr>
            <a:r>
              <a:rPr lang="en-US" dirty="0"/>
              <a:t>Start </a:t>
            </a:r>
            <a:r>
              <a:rPr lang="en-US" dirty="0">
                <a:hlinkClick r:id="rId7"/>
              </a:rPr>
              <a:t>streaming</a:t>
            </a:r>
            <a:r>
              <a:rPr lang="en-US" dirty="0"/>
              <a:t> (</a:t>
            </a:r>
            <a:r>
              <a:rPr lang="en-US" dirty="0">
                <a:latin typeface="Consolas" panose="020B0609020204030204" pitchFamily="49" charset="0"/>
              </a:rPr>
              <a:t>VIDIOC_STREAMON</a:t>
            </a:r>
            <a:r>
              <a:rPr lang="en-US" dirty="0"/>
              <a:t>)</a:t>
            </a:r>
          </a:p>
          <a:p>
            <a:pPr>
              <a:buFont typeface="+mj-lt"/>
              <a:buAutoNum type="arabicPeriod"/>
            </a:pPr>
            <a:r>
              <a:rPr lang="en-US" dirty="0"/>
              <a:t>Loop over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hlinkClick r:id="rId8"/>
              </a:rPr>
              <a:t>Wait</a:t>
            </a:r>
            <a:r>
              <a:rPr lang="en-US" dirty="0"/>
              <a:t> for buffer to become ready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Dequeue buffer and process frame (</a:t>
            </a:r>
            <a:r>
              <a:rPr lang="en-US" sz="1800" dirty="0">
                <a:latin typeface="Consolas" panose="020B0609020204030204" pitchFamily="49" charset="0"/>
              </a:rPr>
              <a:t>VIDIOC_DQBUF</a:t>
            </a:r>
            <a:r>
              <a:rPr lang="en-US" dirty="0"/>
              <a:t>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Enqueue buffer </a:t>
            </a:r>
          </a:p>
          <a:p>
            <a:pPr>
              <a:buFont typeface="+mj-lt"/>
              <a:buAutoNum type="arabicPeriod"/>
            </a:pPr>
            <a:r>
              <a:rPr lang="en-US" dirty="0"/>
              <a:t>Stop streaming, </a:t>
            </a:r>
            <a:r>
              <a:rPr lang="en-US" dirty="0" err="1"/>
              <a:t>Unmap</a:t>
            </a:r>
            <a:r>
              <a:rPr lang="en-US" dirty="0"/>
              <a:t> buffers and close camera device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D7F9F2-17B6-419A-AA27-816FF4FD6E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16002-258E-4D5D-B321-70C4EFBBF90E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6104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6E6EE6-62EF-4422-9DDF-014667E6F3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onsolas" panose="020B0609020204030204" pitchFamily="49" charset="0"/>
              </a:rPr>
              <a:t>ioctl() </a:t>
            </a:r>
            <a:r>
              <a:rPr lang="en-US" dirty="0"/>
              <a:t>simple example</a:t>
            </a:r>
          </a:p>
        </p:txBody>
      </p:sp>
      <p:sp>
        <p:nvSpPr>
          <p:cNvPr id="4" name="Rectangle 28">
            <a:extLst>
              <a:ext uri="{FF2B5EF4-FFF2-40B4-BE49-F238E27FC236}">
                <a16:creationId xmlns:a16="http://schemas.microsoft.com/office/drawing/2014/main" id="{53F7DAD3-9837-4B6C-BC56-CA1BF5C39412}"/>
              </a:ext>
            </a:extLst>
          </p:cNvPr>
          <p:cNvSpPr/>
          <p:nvPr/>
        </p:nvSpPr>
        <p:spPr>
          <a:xfrm>
            <a:off x="9080865" y="1524876"/>
            <a:ext cx="1923120" cy="4456080"/>
          </a:xfrm>
          <a:prstGeom prst="rect">
            <a:avLst/>
          </a:prstGeom>
          <a:solidFill>
            <a:schemeClr val="bg2"/>
          </a:solidFill>
          <a:ln cap="rnd">
            <a:solidFill>
              <a:srgbClr val="7A230B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entury Gothic"/>
              <a:ea typeface="DejaVu Sans"/>
            </a:endParaRPr>
          </a:p>
        </p:txBody>
      </p:sp>
      <p:cxnSp>
        <p:nvCxnSpPr>
          <p:cNvPr id="5" name="Straight Connector 29">
            <a:extLst>
              <a:ext uri="{FF2B5EF4-FFF2-40B4-BE49-F238E27FC236}">
                <a16:creationId xmlns:a16="http://schemas.microsoft.com/office/drawing/2014/main" id="{78471582-9CF0-4454-942A-A1425155EE80}"/>
              </a:ext>
            </a:extLst>
          </p:cNvPr>
          <p:cNvCxnSpPr/>
          <p:nvPr/>
        </p:nvCxnSpPr>
        <p:spPr>
          <a:xfrm>
            <a:off x="9074408" y="4769323"/>
            <a:ext cx="1925280" cy="1080"/>
          </a:xfrm>
          <a:prstGeom prst="straightConnector1">
            <a:avLst/>
          </a:prstGeom>
          <a:ln w="28575" cap="rnd">
            <a:solidFill>
              <a:srgbClr val="000000"/>
            </a:solidFill>
            <a:round/>
          </a:ln>
        </p:spPr>
      </p:cxnSp>
      <p:sp>
        <p:nvSpPr>
          <p:cNvPr id="6" name="Rectangle 39">
            <a:extLst>
              <a:ext uri="{FF2B5EF4-FFF2-40B4-BE49-F238E27FC236}">
                <a16:creationId xmlns:a16="http://schemas.microsoft.com/office/drawing/2014/main" id="{702BBA45-886D-439B-B26B-CA0DD2E9013A}"/>
              </a:ext>
            </a:extLst>
          </p:cNvPr>
          <p:cNvSpPr/>
          <p:nvPr/>
        </p:nvSpPr>
        <p:spPr>
          <a:xfrm>
            <a:off x="9080865" y="1787386"/>
            <a:ext cx="1923120" cy="1444487"/>
          </a:xfrm>
          <a:prstGeom prst="rect">
            <a:avLst/>
          </a:prstGeom>
          <a:solidFill>
            <a:schemeClr val="bg1">
              <a:lumMod val="85000"/>
            </a:schemeClr>
          </a:solidFill>
          <a:ln cap="rnd">
            <a:solidFill>
              <a:srgbClr val="7A230B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-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DejaVu Sans"/>
              </a:rPr>
              <a:t>process X</a:t>
            </a:r>
            <a:endParaRPr kumimoji="0" lang="en-US" sz="18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</a:endParaRPr>
          </a:p>
        </p:txBody>
      </p:sp>
      <p:sp>
        <p:nvSpPr>
          <p:cNvPr id="7" name="Rectangle 41">
            <a:extLst>
              <a:ext uri="{FF2B5EF4-FFF2-40B4-BE49-F238E27FC236}">
                <a16:creationId xmlns:a16="http://schemas.microsoft.com/office/drawing/2014/main" id="{36EC2B1F-F8F6-40D1-BDBD-D8ECE767CCFC}"/>
              </a:ext>
            </a:extLst>
          </p:cNvPr>
          <p:cNvSpPr/>
          <p:nvPr/>
        </p:nvSpPr>
        <p:spPr>
          <a:xfrm>
            <a:off x="9080865" y="2257236"/>
            <a:ext cx="1923120" cy="38664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cap="rnd">
            <a:solidFill>
              <a:srgbClr val="7A230B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-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DejaVu Sans"/>
              </a:rPr>
              <a:t>struct v4l2_capability</a:t>
            </a:r>
            <a:endParaRPr kumimoji="0" lang="en-US" sz="12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</a:endParaRPr>
          </a:p>
        </p:txBody>
      </p:sp>
      <p:sp>
        <p:nvSpPr>
          <p:cNvPr id="8" name="TextBox 45">
            <a:extLst>
              <a:ext uri="{FF2B5EF4-FFF2-40B4-BE49-F238E27FC236}">
                <a16:creationId xmlns:a16="http://schemas.microsoft.com/office/drawing/2014/main" id="{E1ABC6EF-3FF3-4408-9959-DCE3F7B0F436}"/>
              </a:ext>
            </a:extLst>
          </p:cNvPr>
          <p:cNvSpPr/>
          <p:nvPr/>
        </p:nvSpPr>
        <p:spPr>
          <a:xfrm>
            <a:off x="9360428" y="4453603"/>
            <a:ext cx="1353240" cy="302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-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DejaVu Sans"/>
              </a:rPr>
              <a:t>PAGE_OFFSET</a:t>
            </a:r>
            <a:endParaRPr kumimoji="0" lang="en-US" sz="14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</a:endParaRPr>
          </a:p>
        </p:txBody>
      </p:sp>
      <p:sp>
        <p:nvSpPr>
          <p:cNvPr id="9" name="TextBox 50">
            <a:extLst>
              <a:ext uri="{FF2B5EF4-FFF2-40B4-BE49-F238E27FC236}">
                <a16:creationId xmlns:a16="http://schemas.microsoft.com/office/drawing/2014/main" id="{8B7C98EA-3695-4806-B769-2E8CD72E7C4E}"/>
              </a:ext>
            </a:extLst>
          </p:cNvPr>
          <p:cNvSpPr/>
          <p:nvPr/>
        </p:nvSpPr>
        <p:spPr>
          <a:xfrm>
            <a:off x="8378865" y="6015876"/>
            <a:ext cx="3340440" cy="63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-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/>
                <a:ea typeface="DejaVu Sans"/>
              </a:rPr>
              <a:t>kernel / User address space</a:t>
            </a:r>
            <a:endParaRPr kumimoji="0" lang="en-US" sz="18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-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/>
                <a:ea typeface="DejaVu Sans"/>
              </a:rPr>
              <a:t>(virtual)</a:t>
            </a:r>
            <a:endParaRPr kumimoji="0" lang="en-US" sz="18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E5A458B-B9D9-41E9-B3C3-C06F120434B2}"/>
              </a:ext>
            </a:extLst>
          </p:cNvPr>
          <p:cNvCxnSpPr>
            <a:cxnSpLocks/>
          </p:cNvCxnSpPr>
          <p:nvPr/>
        </p:nvCxnSpPr>
        <p:spPr>
          <a:xfrm>
            <a:off x="742950" y="3905577"/>
            <a:ext cx="793432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50">
            <a:extLst>
              <a:ext uri="{FF2B5EF4-FFF2-40B4-BE49-F238E27FC236}">
                <a16:creationId xmlns:a16="http://schemas.microsoft.com/office/drawing/2014/main" id="{23DAACE3-90BD-4A03-A3BE-D1E32B47C2F8}"/>
              </a:ext>
            </a:extLst>
          </p:cNvPr>
          <p:cNvSpPr/>
          <p:nvPr/>
        </p:nvSpPr>
        <p:spPr>
          <a:xfrm>
            <a:off x="1346839" y="5831937"/>
            <a:ext cx="1488269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pc="-1" dirty="0">
                <a:solidFill>
                  <a:srgbClr val="000000"/>
                </a:solidFill>
                <a:latin typeface="Arial"/>
              </a:rPr>
              <a:t>kernel</a:t>
            </a:r>
            <a:r>
              <a:rPr kumimoji="0" lang="en-US" sz="1800" b="0" i="0" u="none" strike="noStrike" kern="1200" cap="none" spc="-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 space</a:t>
            </a:r>
          </a:p>
        </p:txBody>
      </p:sp>
      <p:sp>
        <p:nvSpPr>
          <p:cNvPr id="14" name="TextBox 50">
            <a:extLst>
              <a:ext uri="{FF2B5EF4-FFF2-40B4-BE49-F238E27FC236}">
                <a16:creationId xmlns:a16="http://schemas.microsoft.com/office/drawing/2014/main" id="{E6739A94-1A17-40F9-B424-B3CCAC0CEF96}"/>
              </a:ext>
            </a:extLst>
          </p:cNvPr>
          <p:cNvSpPr/>
          <p:nvPr/>
        </p:nvSpPr>
        <p:spPr>
          <a:xfrm>
            <a:off x="1436478" y="1552235"/>
            <a:ext cx="1308990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pc="-1" dirty="0">
                <a:solidFill>
                  <a:srgbClr val="000000"/>
                </a:solidFill>
                <a:latin typeface="Arial"/>
              </a:rPr>
              <a:t>user</a:t>
            </a:r>
            <a:r>
              <a:rPr kumimoji="0" lang="en-US" sz="1800" b="0" i="0" u="none" strike="noStrike" kern="1200" cap="none" spc="-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 space</a:t>
            </a:r>
          </a:p>
        </p:txBody>
      </p:sp>
      <p:sp>
        <p:nvSpPr>
          <p:cNvPr id="15" name="TextBox 50">
            <a:extLst>
              <a:ext uri="{FF2B5EF4-FFF2-40B4-BE49-F238E27FC236}">
                <a16:creationId xmlns:a16="http://schemas.microsoft.com/office/drawing/2014/main" id="{F6C63895-687A-4852-88D0-7C970364586C}"/>
              </a:ext>
            </a:extLst>
          </p:cNvPr>
          <p:cNvSpPr/>
          <p:nvPr/>
        </p:nvSpPr>
        <p:spPr>
          <a:xfrm>
            <a:off x="1346839" y="3122034"/>
            <a:ext cx="5621645" cy="6448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pc="-1" dirty="0">
                <a:solidFill>
                  <a:srgbClr val="000000"/>
                </a:solidFill>
                <a:latin typeface="Consolas" panose="020B0609020204030204" pitchFamily="49" charset="0"/>
              </a:rPr>
              <a:t>struct v4l2_capability cap = {0};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pc="-1" dirty="0">
                <a:solidFill>
                  <a:srgbClr val="000000"/>
                </a:solidFill>
                <a:latin typeface="Consolas" panose="020B0609020204030204" pitchFamily="49" charset="0"/>
              </a:rPr>
              <a:t>int ret = ioctl(</a:t>
            </a:r>
            <a:r>
              <a:rPr lang="en-US" spc="-1" dirty="0" err="1">
                <a:solidFill>
                  <a:srgbClr val="000000"/>
                </a:solidFill>
                <a:latin typeface="Consolas" panose="020B0609020204030204" pitchFamily="49" charset="0"/>
              </a:rPr>
              <a:t>fd</a:t>
            </a:r>
            <a:r>
              <a:rPr lang="en-US" spc="-1" dirty="0">
                <a:solidFill>
                  <a:srgbClr val="000000"/>
                </a:solidFill>
                <a:latin typeface="Consolas" panose="020B0609020204030204" pitchFamily="49" charset="0"/>
              </a:rPr>
              <a:t>, VIDIOC_QUERYCAP, &amp;cap);</a:t>
            </a:r>
            <a:endParaRPr kumimoji="0" lang="en-US" sz="18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</a:endParaRPr>
          </a:p>
        </p:txBody>
      </p:sp>
      <p:sp>
        <p:nvSpPr>
          <p:cNvPr id="16" name="Rectangle 41">
            <a:extLst>
              <a:ext uri="{FF2B5EF4-FFF2-40B4-BE49-F238E27FC236}">
                <a16:creationId xmlns:a16="http://schemas.microsoft.com/office/drawing/2014/main" id="{136D93A3-A1D8-4766-B0D1-C183EBBE1AA6}"/>
              </a:ext>
            </a:extLst>
          </p:cNvPr>
          <p:cNvSpPr/>
          <p:nvPr/>
        </p:nvSpPr>
        <p:spPr>
          <a:xfrm>
            <a:off x="9078000" y="4963716"/>
            <a:ext cx="1923120" cy="386640"/>
          </a:xfrm>
          <a:prstGeom prst="rect">
            <a:avLst/>
          </a:prstGeom>
          <a:solidFill>
            <a:srgbClr val="00B0F0"/>
          </a:solidFill>
          <a:ln cap="rnd">
            <a:solidFill>
              <a:srgbClr val="7A230B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spc="-1" dirty="0">
                <a:solidFill>
                  <a:srgbClr val="000000"/>
                </a:solidFill>
                <a:latin typeface="Consolas"/>
                <a:ea typeface="DejaVu Sans"/>
              </a:rPr>
              <a:t>s</a:t>
            </a:r>
            <a:r>
              <a:rPr kumimoji="0" lang="en-US" sz="1200" b="1" i="0" u="none" strike="noStrike" kern="1200" cap="none" spc="-1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DejaVu Sans"/>
              </a:rPr>
              <a:t>truct</a:t>
            </a:r>
            <a:r>
              <a:rPr kumimoji="0" lang="en-US" sz="1200" b="1" i="0" u="none" strike="noStrike" kern="1200" cap="none" spc="-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DejaVu Sans"/>
              </a:rPr>
              <a:t> v4l2_capability</a:t>
            </a:r>
            <a:endParaRPr kumimoji="0" lang="en-US" sz="12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</a:endParaRPr>
          </a:p>
        </p:txBody>
      </p:sp>
      <p:sp>
        <p:nvSpPr>
          <p:cNvPr id="17" name="TextBox 50">
            <a:extLst>
              <a:ext uri="{FF2B5EF4-FFF2-40B4-BE49-F238E27FC236}">
                <a16:creationId xmlns:a16="http://schemas.microsoft.com/office/drawing/2014/main" id="{C6EB6FFC-CB39-4C88-BE16-95E6A0E2FA39}"/>
              </a:ext>
            </a:extLst>
          </p:cNvPr>
          <p:cNvSpPr/>
          <p:nvPr/>
        </p:nvSpPr>
        <p:spPr>
          <a:xfrm>
            <a:off x="1320389" y="4155129"/>
            <a:ext cx="6886735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pc="-1" dirty="0">
                <a:solidFill>
                  <a:srgbClr val="000000"/>
                </a:solidFill>
                <a:latin typeface="Consolas" panose="020B0609020204030204" pitchFamily="49" charset="0"/>
              </a:rPr>
              <a:t>int </a:t>
            </a:r>
            <a:r>
              <a:rPr lang="en-US" spc="-1" dirty="0" err="1">
                <a:solidFill>
                  <a:srgbClr val="000000"/>
                </a:solidFill>
                <a:latin typeface="Consolas" panose="020B0609020204030204" pitchFamily="49" charset="0"/>
                <a:hlinkClick r:id="rId3"/>
              </a:rPr>
              <a:t>vidioc_querycap</a:t>
            </a:r>
            <a:r>
              <a:rPr lang="en-US" spc="-1" dirty="0">
                <a:solidFill>
                  <a:srgbClr val="000000"/>
                </a:solidFill>
                <a:latin typeface="Consolas" panose="020B0609020204030204" pitchFamily="49" charset="0"/>
              </a:rPr>
              <a:t>(… , struct v4l2_capability* cap);</a:t>
            </a:r>
            <a:endParaRPr kumimoji="0" lang="en-US" sz="18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</a:endParaRPr>
          </a:p>
        </p:txBody>
      </p: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DE44308B-085A-4F82-A014-CF8AD207129E}"/>
              </a:ext>
            </a:extLst>
          </p:cNvPr>
          <p:cNvCxnSpPr>
            <a:cxnSpLocks/>
            <a:endCxn id="16" idx="1"/>
          </p:cNvCxnSpPr>
          <p:nvPr/>
        </p:nvCxnSpPr>
        <p:spPr>
          <a:xfrm>
            <a:off x="7629050" y="4604983"/>
            <a:ext cx="1448950" cy="552053"/>
          </a:xfrm>
          <a:prstGeom prst="bentConnector3">
            <a:avLst>
              <a:gd name="adj1" fmla="val 40"/>
            </a:avLst>
          </a:prstGeom>
          <a:ln w="38100">
            <a:prstDash val="dash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or: Elbow 22">
            <a:extLst>
              <a:ext uri="{FF2B5EF4-FFF2-40B4-BE49-F238E27FC236}">
                <a16:creationId xmlns:a16="http://schemas.microsoft.com/office/drawing/2014/main" id="{C317B9E4-42C8-4A40-B813-DF1FF26F4B35}"/>
              </a:ext>
            </a:extLst>
          </p:cNvPr>
          <p:cNvCxnSpPr>
            <a:cxnSpLocks/>
          </p:cNvCxnSpPr>
          <p:nvPr/>
        </p:nvCxnSpPr>
        <p:spPr>
          <a:xfrm rot="10800000" flipV="1">
            <a:off x="6373741" y="2476937"/>
            <a:ext cx="2700671" cy="907113"/>
          </a:xfrm>
          <a:prstGeom prst="bentConnector3">
            <a:avLst>
              <a:gd name="adj1" fmla="val 100435"/>
            </a:avLst>
          </a:prstGeom>
          <a:ln w="38100">
            <a:prstDash val="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or: Elbow 25">
            <a:extLst>
              <a:ext uri="{FF2B5EF4-FFF2-40B4-BE49-F238E27FC236}">
                <a16:creationId xmlns:a16="http://schemas.microsoft.com/office/drawing/2014/main" id="{BA9C93A9-6FA6-4C2D-A590-219C15F9A1DE}"/>
              </a:ext>
            </a:extLst>
          </p:cNvPr>
          <p:cNvCxnSpPr>
            <a:stCxn id="7" idx="3"/>
            <a:endCxn id="16" idx="3"/>
          </p:cNvCxnSpPr>
          <p:nvPr/>
        </p:nvCxnSpPr>
        <p:spPr>
          <a:xfrm flipH="1">
            <a:off x="11001120" y="2450556"/>
            <a:ext cx="2865" cy="2706480"/>
          </a:xfrm>
          <a:prstGeom prst="bentConnector3">
            <a:avLst>
              <a:gd name="adj1" fmla="val -13630890"/>
            </a:avLst>
          </a:prstGeom>
          <a:ln w="38100">
            <a:prstDash val="dash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50">
            <a:extLst>
              <a:ext uri="{FF2B5EF4-FFF2-40B4-BE49-F238E27FC236}">
                <a16:creationId xmlns:a16="http://schemas.microsoft.com/office/drawing/2014/main" id="{1129874C-04B7-4046-8259-F2C383889E9F}"/>
              </a:ext>
            </a:extLst>
          </p:cNvPr>
          <p:cNvSpPr/>
          <p:nvPr/>
        </p:nvSpPr>
        <p:spPr>
          <a:xfrm rot="16200000">
            <a:off x="9301594" y="3449225"/>
            <a:ext cx="4549108" cy="30632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-1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</a:rPr>
              <a:t>copy_to_user</a:t>
            </a:r>
            <a:r>
              <a:rPr kumimoji="0" lang="en-US" sz="1400" b="0" i="0" u="none" strike="noStrike" kern="1200" cap="none" spc="-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</a:rPr>
              <a:t>(…, _IOC_SIZE(VIDIOC_QUERYCAP));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489CD08-55C2-41EB-A0BE-997B74FA9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16002-258E-4D5D-B321-70C4EFBBF90E}" type="slidenum">
              <a:rPr lang="en-US" smtClean="0"/>
              <a:t>8</a:t>
            </a:fld>
            <a:endParaRPr lang="en-US"/>
          </a:p>
        </p:txBody>
      </p:sp>
      <p:sp>
        <p:nvSpPr>
          <p:cNvPr id="40" name="TextBox 50">
            <a:extLst>
              <a:ext uri="{FF2B5EF4-FFF2-40B4-BE49-F238E27FC236}">
                <a16:creationId xmlns:a16="http://schemas.microsoft.com/office/drawing/2014/main" id="{BB77DCEA-9EA8-4E1A-B468-2B67A7054C47}"/>
              </a:ext>
            </a:extLst>
          </p:cNvPr>
          <p:cNvSpPr/>
          <p:nvPr/>
        </p:nvSpPr>
        <p:spPr>
          <a:xfrm>
            <a:off x="9006981" y="1253542"/>
            <a:ext cx="1030067" cy="27554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spc="-1" dirty="0">
                <a:solidFill>
                  <a:srgbClr val="000000"/>
                </a:solidFill>
                <a:latin typeface="Consolas" panose="020B0609020204030204" pitchFamily="49" charset="0"/>
              </a:rPr>
              <a:t>0x00000000</a:t>
            </a:r>
            <a:endParaRPr kumimoji="0" lang="en-US" sz="12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97354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C35AF9-DD34-4F1D-9A91-58A24ACE40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onsolas" panose="020B0609020204030204" pitchFamily="49" charset="0"/>
              </a:rPr>
              <a:t>ioctl() </a:t>
            </a:r>
            <a:r>
              <a:rPr lang="en-US" dirty="0"/>
              <a:t>directions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0EA2DF-1D77-4FC0-93A0-926E57EFB1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3" y="2133600"/>
            <a:ext cx="3075722" cy="3777622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Consolas" panose="020B0609020204030204" pitchFamily="49" charset="0"/>
              </a:rPr>
              <a:t>_IOR()</a:t>
            </a:r>
            <a:r>
              <a:rPr lang="en-US" dirty="0"/>
              <a:t>: </a:t>
            </a:r>
            <a:br>
              <a:rPr lang="en-US" dirty="0"/>
            </a:br>
            <a:r>
              <a:rPr lang="en-US" dirty="0"/>
              <a:t>Read data from kernel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Consolas" panose="020B0609020204030204" pitchFamily="49" charset="0"/>
              </a:rPr>
              <a:t>_IOW()</a:t>
            </a:r>
            <a:r>
              <a:rPr lang="en-US" dirty="0"/>
              <a:t>: </a:t>
            </a:r>
            <a:br>
              <a:rPr lang="en-US" dirty="0"/>
            </a:br>
            <a:r>
              <a:rPr lang="en-US" dirty="0"/>
              <a:t>Write data to kernel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Consolas" panose="020B0609020204030204" pitchFamily="49" charset="0"/>
              </a:rPr>
              <a:t>_IOWR()</a:t>
            </a:r>
            <a:r>
              <a:rPr lang="en-US" dirty="0"/>
              <a:t>: </a:t>
            </a:r>
            <a:br>
              <a:rPr lang="en-US" dirty="0"/>
            </a:br>
            <a:r>
              <a:rPr lang="en-US" dirty="0"/>
              <a:t>Combination of writing and reading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Consolas" panose="020B0609020204030204" pitchFamily="49" charset="0"/>
              </a:rPr>
              <a:t>_IO()</a:t>
            </a:r>
            <a:r>
              <a:rPr lang="en-US" dirty="0"/>
              <a:t>: </a:t>
            </a:r>
            <a:br>
              <a:rPr lang="en-US" dirty="0"/>
            </a:br>
            <a:r>
              <a:rPr lang="en-US" dirty="0"/>
              <a:t>Direction less (Without argument)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A2B60F-1AF8-4E2C-A771-893DB5989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16002-258E-4D5D-B321-70C4EFBBF90E}" type="slidenum">
              <a:rPr lang="en-US" smtClean="0"/>
              <a:t>9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401E1B9-6E23-4462-8AD6-D0E1055D55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4934" y="2133600"/>
            <a:ext cx="6314630" cy="324040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02613B3-DFDC-4F1F-A98C-3FEC07D36022}"/>
              </a:ext>
            </a:extLst>
          </p:cNvPr>
          <p:cNvSpPr txBox="1"/>
          <p:nvPr/>
        </p:nvSpPr>
        <p:spPr>
          <a:xfrm>
            <a:off x="2143393" y="6139822"/>
            <a:ext cx="98107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https://elixir.bootlin.com/linux/v6.16.5/source/include/uapi/linux/videodev2.h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250891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BB5BE3-13FA-4244-94B0-71F54397FE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defTabSz="914400">
              <a:tabLst>
                <a:tab pos="0" algn="l"/>
              </a:tabLst>
            </a:pPr>
            <a:r>
              <a:rPr lang="en-US" b="1" spc="-1" dirty="0" err="1">
                <a:solidFill>
                  <a:srgbClr val="262626"/>
                </a:solidFill>
                <a:latin typeface="Consolas"/>
              </a:rPr>
              <a:t>mmap</a:t>
            </a:r>
            <a:r>
              <a:rPr lang="en-US" b="1" spc="-1" dirty="0">
                <a:solidFill>
                  <a:srgbClr val="262626"/>
                </a:solidFill>
                <a:latin typeface="Consolas"/>
              </a:rPr>
              <a:t>() </a:t>
            </a:r>
            <a:r>
              <a:rPr lang="en-US" spc="-1" dirty="0">
                <a:solidFill>
                  <a:srgbClr val="262626"/>
                </a:solidFill>
                <a:latin typeface="Century Gothic"/>
              </a:rPr>
              <a:t>simple example</a:t>
            </a:r>
            <a:endParaRPr lang="en-US" b="1" spc="-1" dirty="0">
              <a:solidFill>
                <a:srgbClr val="262626"/>
              </a:solidFill>
              <a:latin typeface="Consolas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2C17626-91C2-4FD7-A35E-437BFA9F7F5C}"/>
              </a:ext>
            </a:extLst>
          </p:cNvPr>
          <p:cNvGrpSpPr/>
          <p:nvPr/>
        </p:nvGrpSpPr>
        <p:grpSpPr>
          <a:xfrm>
            <a:off x="2092890" y="1730385"/>
            <a:ext cx="2997360" cy="4960800"/>
            <a:chOff x="2898450" y="1730385"/>
            <a:chExt cx="2997360" cy="4960800"/>
          </a:xfrm>
        </p:grpSpPr>
        <p:sp>
          <p:nvSpPr>
            <p:cNvPr id="4" name="TextBox 18">
              <a:extLst>
                <a:ext uri="{FF2B5EF4-FFF2-40B4-BE49-F238E27FC236}">
                  <a16:creationId xmlns:a16="http://schemas.microsoft.com/office/drawing/2014/main" id="{6A703C75-090E-46E8-96C2-80BC67F41BE5}"/>
                </a:ext>
              </a:extLst>
            </p:cNvPr>
            <p:cNvSpPr/>
            <p:nvPr/>
          </p:nvSpPr>
          <p:spPr>
            <a:xfrm>
              <a:off x="2898450" y="6052905"/>
              <a:ext cx="2997360" cy="63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t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-1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entury Gothic"/>
                  <a:ea typeface="DejaVu Sans"/>
                </a:rPr>
                <a:t>process X address space</a:t>
              </a:r>
              <a:endParaRPr kumimoji="0" lang="en-US" sz="1800" b="0" i="0" u="none" strike="noStrike" kern="1200" cap="none" spc="-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-1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entury Gothic"/>
                  <a:ea typeface="DejaVu Sans"/>
                </a:rPr>
                <a:t>(virtual)</a:t>
              </a:r>
              <a:endParaRPr kumimoji="0" lang="en-US" sz="1800" b="0" i="0" u="none" strike="noStrike" kern="1200" cap="none" spc="-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endParaRPr>
            </a:p>
          </p:txBody>
        </p:sp>
        <p:grpSp>
          <p:nvGrpSpPr>
            <p:cNvPr id="5" name="Group 13">
              <a:extLst>
                <a:ext uri="{FF2B5EF4-FFF2-40B4-BE49-F238E27FC236}">
                  <a16:creationId xmlns:a16="http://schemas.microsoft.com/office/drawing/2014/main" id="{4B296C78-182A-46AE-81C1-E4BFA9FAA1B6}"/>
                </a:ext>
              </a:extLst>
            </p:cNvPr>
            <p:cNvGrpSpPr/>
            <p:nvPr/>
          </p:nvGrpSpPr>
          <p:grpSpPr>
            <a:xfrm>
              <a:off x="3501810" y="1730385"/>
              <a:ext cx="1932840" cy="4234320"/>
              <a:chOff x="1272960" y="1530360"/>
              <a:chExt cx="1932840" cy="4234320"/>
            </a:xfrm>
          </p:grpSpPr>
          <p:sp>
            <p:nvSpPr>
              <p:cNvPr id="6" name="Rectangle 17">
                <a:extLst>
                  <a:ext uri="{FF2B5EF4-FFF2-40B4-BE49-F238E27FC236}">
                    <a16:creationId xmlns:a16="http://schemas.microsoft.com/office/drawing/2014/main" id="{20C9721F-6346-4E4E-B350-AC625A8D4648}"/>
                  </a:ext>
                </a:extLst>
              </p:cNvPr>
              <p:cNvSpPr/>
              <p:nvPr/>
            </p:nvSpPr>
            <p:spPr>
              <a:xfrm>
                <a:off x="1282680" y="1530360"/>
                <a:ext cx="1923120" cy="423432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cap="rnd">
                <a:solidFill>
                  <a:srgbClr val="7A230B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-1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entury Gothic"/>
                  <a:ea typeface="DejaVu Sans"/>
                </a:endParaRPr>
              </a:p>
            </p:txBody>
          </p:sp>
          <p:sp>
            <p:nvSpPr>
              <p:cNvPr id="7" name="Rectangle 31">
                <a:extLst>
                  <a:ext uri="{FF2B5EF4-FFF2-40B4-BE49-F238E27FC236}">
                    <a16:creationId xmlns:a16="http://schemas.microsoft.com/office/drawing/2014/main" id="{0058E566-5BFF-48CE-9B6C-28F99E2B030D}"/>
                  </a:ext>
                </a:extLst>
              </p:cNvPr>
              <p:cNvSpPr/>
              <p:nvPr/>
            </p:nvSpPr>
            <p:spPr>
              <a:xfrm>
                <a:off x="1282680" y="2047320"/>
                <a:ext cx="1923120" cy="1093320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 cap="rnd">
                <a:solidFill>
                  <a:srgbClr val="7A230B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pc="-1" dirty="0">
                    <a:solidFill>
                      <a:srgbClr val="000000"/>
                    </a:solidFill>
                    <a:latin typeface="Consolas"/>
                  </a:rPr>
                  <a:t>Memory mapped file</a:t>
                </a:r>
                <a:endParaRPr kumimoji="0" lang="en-US" sz="1800" b="0" i="0" u="none" strike="noStrike" kern="1200" cap="none" spc="-1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</a:endParaRPr>
              </a:p>
            </p:txBody>
          </p:sp>
          <p:cxnSp>
            <p:nvCxnSpPr>
              <p:cNvPr id="8" name="Straight Connector 44">
                <a:extLst>
                  <a:ext uri="{FF2B5EF4-FFF2-40B4-BE49-F238E27FC236}">
                    <a16:creationId xmlns:a16="http://schemas.microsoft.com/office/drawing/2014/main" id="{C6292483-DFCD-4284-8498-B6D1C55CB73F}"/>
                  </a:ext>
                </a:extLst>
              </p:cNvPr>
              <p:cNvCxnSpPr/>
              <p:nvPr/>
            </p:nvCxnSpPr>
            <p:spPr>
              <a:xfrm>
                <a:off x="1272960" y="5236920"/>
                <a:ext cx="1925280" cy="1080"/>
              </a:xfrm>
              <a:prstGeom prst="straightConnector1">
                <a:avLst/>
              </a:prstGeom>
              <a:ln w="28575" cap="rnd">
                <a:solidFill>
                  <a:srgbClr val="000000"/>
                </a:solidFill>
                <a:round/>
              </a:ln>
            </p:spPr>
          </p:cxnSp>
          <p:sp>
            <p:nvSpPr>
              <p:cNvPr id="9" name="TextBox 46">
                <a:extLst>
                  <a:ext uri="{FF2B5EF4-FFF2-40B4-BE49-F238E27FC236}">
                    <a16:creationId xmlns:a16="http://schemas.microsoft.com/office/drawing/2014/main" id="{4BDCD213-F6B4-4D8C-A1FD-13960D787196}"/>
                  </a:ext>
                </a:extLst>
              </p:cNvPr>
              <p:cNvSpPr/>
              <p:nvPr/>
            </p:nvSpPr>
            <p:spPr>
              <a:xfrm>
                <a:off x="1866240" y="5285160"/>
                <a:ext cx="757080" cy="363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none" lIns="90000" tIns="45000" rIns="90000" bIns="45000" anchor="t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-1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entury Gothic"/>
                    <a:ea typeface="DejaVu Sans"/>
                  </a:rPr>
                  <a:t>TEXT</a:t>
                </a:r>
                <a:endParaRPr kumimoji="0" lang="en-US" sz="1800" b="0" i="0" u="none" strike="noStrike" kern="1200" cap="none" spc="-1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</a:endParaRPr>
              </a:p>
            </p:txBody>
          </p:sp>
          <p:cxnSp>
            <p:nvCxnSpPr>
              <p:cNvPr id="10" name="Straight Connector 47">
                <a:extLst>
                  <a:ext uri="{FF2B5EF4-FFF2-40B4-BE49-F238E27FC236}">
                    <a16:creationId xmlns:a16="http://schemas.microsoft.com/office/drawing/2014/main" id="{0B7B7F9F-EAAE-49F1-89D1-F3A77AE2F65C}"/>
                  </a:ext>
                </a:extLst>
              </p:cNvPr>
              <p:cNvCxnSpPr/>
              <p:nvPr/>
            </p:nvCxnSpPr>
            <p:spPr>
              <a:xfrm>
                <a:off x="1272960" y="4737240"/>
                <a:ext cx="1925280" cy="1080"/>
              </a:xfrm>
              <a:prstGeom prst="straightConnector1">
                <a:avLst/>
              </a:prstGeom>
              <a:ln w="28575" cap="rnd">
                <a:solidFill>
                  <a:srgbClr val="000000"/>
                </a:solidFill>
                <a:round/>
              </a:ln>
            </p:spPr>
          </p:cxnSp>
          <p:sp>
            <p:nvSpPr>
              <p:cNvPr id="11" name="TextBox 48">
                <a:extLst>
                  <a:ext uri="{FF2B5EF4-FFF2-40B4-BE49-F238E27FC236}">
                    <a16:creationId xmlns:a16="http://schemas.microsoft.com/office/drawing/2014/main" id="{D66CB6F8-12B2-41AC-8E56-26DB757AD079}"/>
                  </a:ext>
                </a:extLst>
              </p:cNvPr>
              <p:cNvSpPr/>
              <p:nvPr/>
            </p:nvSpPr>
            <p:spPr>
              <a:xfrm>
                <a:off x="1885680" y="4785480"/>
                <a:ext cx="621720" cy="363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none" lIns="90000" tIns="45000" rIns="90000" bIns="45000" anchor="t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-1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entury Gothic"/>
                    <a:ea typeface="DejaVu Sans"/>
                  </a:rPr>
                  <a:t>BSS</a:t>
                </a:r>
                <a:endParaRPr kumimoji="0" lang="en-US" sz="1800" b="0" i="0" u="none" strike="noStrike" kern="1200" cap="none" spc="-1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</a:endParaRPr>
              </a:p>
            </p:txBody>
          </p:sp>
        </p:grpSp>
      </p:grpSp>
      <p:sp>
        <p:nvSpPr>
          <p:cNvPr id="12" name="Rectangle 28">
            <a:extLst>
              <a:ext uri="{FF2B5EF4-FFF2-40B4-BE49-F238E27FC236}">
                <a16:creationId xmlns:a16="http://schemas.microsoft.com/office/drawing/2014/main" id="{EEAA4C23-24FF-47E6-A816-96985BD8537D}"/>
              </a:ext>
            </a:extLst>
          </p:cNvPr>
          <p:cNvSpPr/>
          <p:nvPr/>
        </p:nvSpPr>
        <p:spPr>
          <a:xfrm>
            <a:off x="9949622" y="1730385"/>
            <a:ext cx="1356553" cy="4234320"/>
          </a:xfrm>
          <a:prstGeom prst="rect">
            <a:avLst/>
          </a:prstGeom>
          <a:solidFill>
            <a:schemeClr val="bg2"/>
          </a:solidFill>
          <a:ln cap="rnd">
            <a:solidFill>
              <a:srgbClr val="7A230B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-1" normalizeH="0" baseline="0" noProof="0" dirty="0">
              <a:ln>
                <a:noFill/>
              </a:ln>
              <a:effectLst/>
              <a:uLnTx/>
              <a:uFillTx/>
              <a:latin typeface="Century Gothic"/>
              <a:ea typeface="DejaVu Sans"/>
            </a:endParaRPr>
          </a:p>
        </p:txBody>
      </p:sp>
      <p:cxnSp>
        <p:nvCxnSpPr>
          <p:cNvPr id="21" name="Straight Connector 53">
            <a:extLst>
              <a:ext uri="{FF2B5EF4-FFF2-40B4-BE49-F238E27FC236}">
                <a16:creationId xmlns:a16="http://schemas.microsoft.com/office/drawing/2014/main" id="{5D71503F-DEAF-4B21-859F-45075963F226}"/>
              </a:ext>
            </a:extLst>
          </p:cNvPr>
          <p:cNvCxnSpPr>
            <a:cxnSpLocks/>
          </p:cNvCxnSpPr>
          <p:nvPr/>
        </p:nvCxnSpPr>
        <p:spPr>
          <a:xfrm>
            <a:off x="4621530" y="3340665"/>
            <a:ext cx="5321213" cy="962025"/>
          </a:xfrm>
          <a:prstGeom prst="straightConnector1">
            <a:avLst/>
          </a:prstGeom>
          <a:ln w="19050" cap="rnd">
            <a:solidFill>
              <a:srgbClr val="9D2D0F"/>
            </a:solidFill>
            <a:prstDash val="dashDot"/>
            <a:round/>
            <a:headEnd type="triangle" w="lg" len="lg"/>
          </a:ln>
        </p:spPr>
      </p:cxnSp>
      <p:cxnSp>
        <p:nvCxnSpPr>
          <p:cNvPr id="24" name="Straight Connector 53">
            <a:extLst>
              <a:ext uri="{FF2B5EF4-FFF2-40B4-BE49-F238E27FC236}">
                <a16:creationId xmlns:a16="http://schemas.microsoft.com/office/drawing/2014/main" id="{2367730E-0A37-4E7A-93E1-E05A42AED62A}"/>
              </a:ext>
            </a:extLst>
          </p:cNvPr>
          <p:cNvCxnSpPr>
            <a:cxnSpLocks/>
          </p:cNvCxnSpPr>
          <p:nvPr/>
        </p:nvCxnSpPr>
        <p:spPr>
          <a:xfrm>
            <a:off x="4635969" y="2264273"/>
            <a:ext cx="5321213" cy="962025"/>
          </a:xfrm>
          <a:prstGeom prst="straightConnector1">
            <a:avLst/>
          </a:prstGeom>
          <a:ln w="19050" cap="rnd">
            <a:solidFill>
              <a:srgbClr val="9D2D0F"/>
            </a:solidFill>
            <a:prstDash val="dashDot"/>
            <a:round/>
            <a:headEnd type="triangle" w="lg" len="lg"/>
          </a:ln>
        </p:spPr>
      </p:cxnSp>
      <p:sp>
        <p:nvSpPr>
          <p:cNvPr id="25" name="TextBox 18">
            <a:extLst>
              <a:ext uri="{FF2B5EF4-FFF2-40B4-BE49-F238E27FC236}">
                <a16:creationId xmlns:a16="http://schemas.microsoft.com/office/drawing/2014/main" id="{884483D4-E82A-477C-96AD-190D3C88B085}"/>
              </a:ext>
            </a:extLst>
          </p:cNvPr>
          <p:cNvSpPr/>
          <p:nvPr/>
        </p:nvSpPr>
        <p:spPr>
          <a:xfrm>
            <a:off x="9698814" y="6004838"/>
            <a:ext cx="1858179" cy="6448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-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Regular file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pc="-1" dirty="0">
                <a:solidFill>
                  <a:srgbClr val="000000"/>
                </a:solidFill>
                <a:latin typeface="Arial"/>
              </a:rPr>
              <a:t>(</a:t>
            </a:r>
            <a:r>
              <a:rPr lang="en-US" spc="-1" dirty="0" err="1">
                <a:solidFill>
                  <a:srgbClr val="000000"/>
                </a:solidFill>
                <a:latin typeface="Arial"/>
              </a:rPr>
              <a:t>e.g</a:t>
            </a:r>
            <a:r>
              <a:rPr lang="en-US" spc="-1" dirty="0">
                <a:solidFill>
                  <a:srgbClr val="000000"/>
                </a:solidFill>
                <a:latin typeface="Arial"/>
              </a:rPr>
              <a:t> </a:t>
            </a:r>
            <a:r>
              <a:rPr lang="en-US" b="1" spc="-1" dirty="0" err="1">
                <a:solidFill>
                  <a:srgbClr val="000000"/>
                </a:solidFill>
                <a:latin typeface="Consolas" panose="020B0609020204030204" pitchFamily="49" charset="0"/>
              </a:rPr>
              <a:t>image.raw</a:t>
            </a:r>
            <a:r>
              <a:rPr lang="en-US" spc="-1" dirty="0">
                <a:solidFill>
                  <a:srgbClr val="000000"/>
                </a:solidFill>
                <a:latin typeface="Arial"/>
              </a:rPr>
              <a:t>)</a:t>
            </a:r>
            <a:endParaRPr kumimoji="0" lang="en-US" sz="18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</a:endParaRPr>
          </a:p>
        </p:txBody>
      </p:sp>
      <p:sp>
        <p:nvSpPr>
          <p:cNvPr id="26" name="TextBox 18">
            <a:extLst>
              <a:ext uri="{FF2B5EF4-FFF2-40B4-BE49-F238E27FC236}">
                <a16:creationId xmlns:a16="http://schemas.microsoft.com/office/drawing/2014/main" id="{FA797E4E-8B41-4DB5-BB84-D256917BB4CF}"/>
              </a:ext>
            </a:extLst>
          </p:cNvPr>
          <p:cNvSpPr/>
          <p:nvPr/>
        </p:nvSpPr>
        <p:spPr>
          <a:xfrm>
            <a:off x="10239245" y="2917730"/>
            <a:ext cx="777305" cy="30632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-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</a:rPr>
              <a:t>offset</a:t>
            </a:r>
            <a:endParaRPr kumimoji="0" lang="en-US" sz="18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</a:endParaRP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52BFD364-CA78-41BA-9B93-87C4A7349AE7}"/>
              </a:ext>
            </a:extLst>
          </p:cNvPr>
          <p:cNvCxnSpPr>
            <a:cxnSpLocks/>
          </p:cNvCxnSpPr>
          <p:nvPr/>
        </p:nvCxnSpPr>
        <p:spPr>
          <a:xfrm>
            <a:off x="11401425" y="3224053"/>
            <a:ext cx="0" cy="107863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18">
            <a:extLst>
              <a:ext uri="{FF2B5EF4-FFF2-40B4-BE49-F238E27FC236}">
                <a16:creationId xmlns:a16="http://schemas.microsoft.com/office/drawing/2014/main" id="{721F976F-ED66-4037-8587-50231B3F22AE}"/>
              </a:ext>
            </a:extLst>
          </p:cNvPr>
          <p:cNvSpPr/>
          <p:nvPr/>
        </p:nvSpPr>
        <p:spPr>
          <a:xfrm rot="5400000">
            <a:off x="11196486" y="3576157"/>
            <a:ext cx="777306" cy="30632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-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</a:rPr>
              <a:t>length</a:t>
            </a:r>
            <a:endParaRPr kumimoji="0" lang="en-US" sz="18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CB47D08-23E0-4C7C-B077-A8D9BFCC2AB8}"/>
              </a:ext>
            </a:extLst>
          </p:cNvPr>
          <p:cNvSpPr/>
          <p:nvPr/>
        </p:nvSpPr>
        <p:spPr>
          <a:xfrm>
            <a:off x="9964061" y="3209370"/>
            <a:ext cx="1342113" cy="109332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cap="rnd">
            <a:solidFill>
              <a:srgbClr val="7A230B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</a:endParaRP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EAB694C1-4DBD-4AFC-B33A-92BFBCF62D82}"/>
              </a:ext>
            </a:extLst>
          </p:cNvPr>
          <p:cNvCxnSpPr>
            <a:cxnSpLocks/>
          </p:cNvCxnSpPr>
          <p:nvPr/>
        </p:nvCxnSpPr>
        <p:spPr>
          <a:xfrm flipH="1">
            <a:off x="9942743" y="1588065"/>
            <a:ext cx="1342113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18">
            <a:extLst>
              <a:ext uri="{FF2B5EF4-FFF2-40B4-BE49-F238E27FC236}">
                <a16:creationId xmlns:a16="http://schemas.microsoft.com/office/drawing/2014/main" id="{D37E9CAD-7AA8-4885-8748-71ACDE6DEBF7}"/>
              </a:ext>
            </a:extLst>
          </p:cNvPr>
          <p:cNvSpPr/>
          <p:nvPr/>
        </p:nvSpPr>
        <p:spPr>
          <a:xfrm>
            <a:off x="10316607" y="1295108"/>
            <a:ext cx="578790" cy="30632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-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</a:rPr>
              <a:t>byte</a:t>
            </a:r>
            <a:endParaRPr kumimoji="0" lang="en-US" sz="18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</a:endParaRPr>
          </a:p>
        </p:txBody>
      </p:sp>
      <p:sp>
        <p:nvSpPr>
          <p:cNvPr id="37" name="TextBox 18">
            <a:extLst>
              <a:ext uri="{FF2B5EF4-FFF2-40B4-BE49-F238E27FC236}">
                <a16:creationId xmlns:a16="http://schemas.microsoft.com/office/drawing/2014/main" id="{447113DE-90E4-4AE2-BCF4-D230E65E5DFC}"/>
              </a:ext>
            </a:extLst>
          </p:cNvPr>
          <p:cNvSpPr/>
          <p:nvPr/>
        </p:nvSpPr>
        <p:spPr>
          <a:xfrm>
            <a:off x="2124156" y="2094183"/>
            <a:ext cx="578790" cy="30632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-1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</a:rPr>
              <a:t>addr</a:t>
            </a:r>
            <a:endParaRPr kumimoji="0" lang="en-US" sz="18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</a:endParaRP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DCC3B1CE-C878-4FED-A13B-F363D9DA0B58}"/>
              </a:ext>
            </a:extLst>
          </p:cNvPr>
          <p:cNvGrpSpPr/>
          <p:nvPr/>
        </p:nvGrpSpPr>
        <p:grpSpPr>
          <a:xfrm>
            <a:off x="4894176" y="4188326"/>
            <a:ext cx="4472966" cy="2045564"/>
            <a:chOff x="4891815" y="4150277"/>
            <a:chExt cx="4472966" cy="2045564"/>
          </a:xfrm>
        </p:grpSpPr>
        <p:sp>
          <p:nvSpPr>
            <p:cNvPr id="15" name="TextBox 18">
              <a:extLst>
                <a:ext uri="{FF2B5EF4-FFF2-40B4-BE49-F238E27FC236}">
                  <a16:creationId xmlns:a16="http://schemas.microsoft.com/office/drawing/2014/main" id="{F6D230FD-EA71-4079-A023-D85795C733E4}"/>
                </a:ext>
              </a:extLst>
            </p:cNvPr>
            <p:cNvSpPr/>
            <p:nvPr/>
          </p:nvSpPr>
          <p:spPr>
            <a:xfrm>
              <a:off x="5351205" y="4150277"/>
              <a:ext cx="4013576" cy="2029871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t">
              <a:spAutoFit/>
            </a:bodyPr>
            <a:lstStyle/>
            <a:p>
              <a:pPr defTabSz="914400">
                <a:defRPr/>
              </a:pPr>
              <a:r>
                <a:rPr kumimoji="0" lang="en-US" sz="1400" b="0" i="0" u="none" strike="noStrike" kern="1200" cap="none" spc="-1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</a:rPr>
                <a:t>int </a:t>
              </a:r>
              <a:r>
                <a:rPr kumimoji="0" lang="en-US" sz="1400" b="0" i="0" u="none" strike="noStrike" kern="1200" cap="none" spc="-1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</a:rPr>
                <a:t>fd</a:t>
              </a:r>
              <a:r>
                <a:rPr kumimoji="0" lang="en-US" sz="1400" b="0" i="0" u="none" strike="noStrike" kern="1200" cap="none" spc="-1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</a:rPr>
                <a:t> = open(“</a:t>
              </a:r>
              <a:r>
                <a:rPr kumimoji="0" lang="en-US" sz="1400" b="0" i="0" u="none" strike="noStrike" kern="1200" cap="none" spc="-1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</a:rPr>
                <a:t>image.raw</a:t>
              </a:r>
              <a:r>
                <a:rPr kumimoji="0" lang="en-US" sz="1400" b="0" i="0" u="none" strike="noStrike" kern="1200" cap="none" spc="-1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</a:rPr>
                <a:t>”, O_RDONLY);</a:t>
              </a:r>
            </a:p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-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</a:endParaRPr>
            </a:p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-1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</a:rPr>
                <a:t>char* </a:t>
              </a:r>
              <a:r>
                <a:rPr kumimoji="0" lang="en-US" sz="1400" b="1" i="0" u="none" strike="noStrike" kern="1200" cap="none" spc="-1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</a:rPr>
                <a:t>addr</a:t>
              </a:r>
              <a:r>
                <a:rPr kumimoji="0" lang="en-US" sz="1400" b="0" i="0" u="none" strike="noStrike" kern="1200" cap="none" spc="-1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</a:rPr>
                <a:t> = </a:t>
              </a:r>
              <a:r>
                <a:rPr kumimoji="0" lang="en-US" sz="1400" b="0" i="0" u="none" strike="noStrike" kern="1200" cap="none" spc="-1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</a:rPr>
                <a:t>mmap</a:t>
              </a:r>
              <a:r>
                <a:rPr kumimoji="0" lang="en-US" sz="1400" b="0" i="0" u="none" strike="noStrike" kern="1200" cap="none" spc="-1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</a:rPr>
                <a:t>(</a:t>
              </a:r>
            </a:p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-1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</a:rPr>
                <a:t>NULL, 	</a:t>
              </a:r>
              <a:r>
                <a:rPr lang="en-US" sz="1400" spc="-1" dirty="0">
                  <a:solidFill>
                    <a:srgbClr val="000000"/>
                  </a:solidFill>
                  <a:latin typeface="Consolas" panose="020B0609020204030204" pitchFamily="49" charset="0"/>
                </a:rPr>
                <a:t>	// hint for </a:t>
              </a:r>
              <a:r>
                <a:rPr lang="en-US" sz="1400" spc="-1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addr</a:t>
              </a:r>
              <a:endParaRPr kumimoji="0" lang="en-US" sz="1400" b="0" i="0" u="none" strike="noStrike" kern="1200" cap="none" spc="-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</a:endParaRPr>
            </a:p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-1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</a:rPr>
                <a:t>length</a:t>
              </a:r>
              <a:r>
                <a:rPr kumimoji="0" lang="en-US" sz="1400" b="0" i="0" u="none" strike="noStrike" kern="1200" cap="none" spc="-1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</a:rPr>
                <a:t>, 		// length of mapping</a:t>
              </a:r>
            </a:p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-1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</a:rPr>
                <a:t>PROT_READ, 	// read only </a:t>
              </a:r>
            </a:p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-1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</a:rPr>
                <a:t>MAP_PRIVATE, 	// not sharable </a:t>
              </a:r>
            </a:p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-1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</a:rPr>
                <a:t>fd</a:t>
              </a:r>
              <a:r>
                <a:rPr kumimoji="0" lang="en-US" sz="1400" b="0" i="0" u="none" strike="noStrike" kern="1200" cap="none" spc="-1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</a:rPr>
                <a:t>, 		// file descriptor</a:t>
              </a:r>
            </a:p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-1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</a:rPr>
                <a:t>offset</a:t>
              </a:r>
              <a:r>
                <a:rPr kumimoji="0" lang="en-US" sz="1400" b="0" i="0" u="none" strike="noStrike" kern="1200" cap="none" spc="-1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</a:rPr>
                <a:t>);		// offset in file</a:t>
              </a:r>
            </a:p>
          </p:txBody>
        </p:sp>
        <p:sp>
          <p:nvSpPr>
            <p:cNvPr id="38" name="Right Brace 14">
              <a:extLst>
                <a:ext uri="{FF2B5EF4-FFF2-40B4-BE49-F238E27FC236}">
                  <a16:creationId xmlns:a16="http://schemas.microsoft.com/office/drawing/2014/main" id="{153C4B12-49D4-41AC-9C9D-587FC2DB6389}"/>
                </a:ext>
              </a:extLst>
            </p:cNvPr>
            <p:cNvSpPr/>
            <p:nvPr/>
          </p:nvSpPr>
          <p:spPr>
            <a:xfrm rot="10800000">
              <a:off x="4891815" y="4159754"/>
              <a:ext cx="728280" cy="2036087"/>
            </a:xfrm>
            <a:prstGeom prst="rightBrace">
              <a:avLst>
                <a:gd name="adj1" fmla="val 8333"/>
                <a:gd name="adj2" fmla="val 26610"/>
              </a:avLst>
            </a:prstGeom>
            <a:noFill/>
            <a:ln cap="rnd">
              <a:solidFill>
                <a:srgbClr val="9D2D0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endParaRPr lang="en-US" sz="1800" b="0" strike="noStrike" spc="-1">
                <a:solidFill>
                  <a:srgbClr val="000000"/>
                </a:solidFill>
                <a:latin typeface="Century Gothic"/>
                <a:ea typeface="DejaVu Sans"/>
              </a:endParaRPr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678F7A4-1C27-4CD9-9A3A-95D01F8DFC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16002-258E-4D5D-B321-70C4EFBBF90E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25893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PlaceHolder 1"/>
          <p:cNvSpPr>
            <a:spLocks noGrp="1"/>
          </p:cNvSpPr>
          <p:nvPr>
            <p:ph type="title"/>
          </p:nvPr>
        </p:nvSpPr>
        <p:spPr>
          <a:xfrm>
            <a:off x="2593080" y="624240"/>
            <a:ext cx="8910720" cy="1279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1" strike="noStrike" spc="-1" dirty="0" err="1">
                <a:solidFill>
                  <a:srgbClr val="262626"/>
                </a:solidFill>
                <a:latin typeface="Consolas"/>
              </a:rPr>
              <a:t>mmap</a:t>
            </a:r>
            <a:r>
              <a:rPr lang="en-US" sz="3600" b="1" strike="noStrike" spc="-1" dirty="0">
                <a:solidFill>
                  <a:srgbClr val="262626"/>
                </a:solidFill>
                <a:latin typeface="Consolas"/>
              </a:rPr>
              <a:t>() </a:t>
            </a:r>
            <a:r>
              <a:rPr lang="en-US" sz="3600" spc="-1" dirty="0">
                <a:solidFill>
                  <a:srgbClr val="262626"/>
                </a:solidFill>
                <a:latin typeface="Century Gothic"/>
              </a:rPr>
              <a:t>in v4l2 streaming mode</a:t>
            </a:r>
            <a:endParaRPr lang="en-US" sz="36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Rectangle 4"/>
          <p:cNvSpPr/>
          <p:nvPr/>
        </p:nvSpPr>
        <p:spPr>
          <a:xfrm>
            <a:off x="8744040" y="1376640"/>
            <a:ext cx="1923120" cy="4456080"/>
          </a:xfrm>
          <a:prstGeom prst="rect">
            <a:avLst/>
          </a:prstGeom>
          <a:solidFill>
            <a:schemeClr val="bg2"/>
          </a:solidFill>
          <a:ln cap="rnd">
            <a:solidFill>
              <a:srgbClr val="7A230B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entury Gothic"/>
              <a:ea typeface="DejaVu Sans"/>
            </a:endParaRPr>
          </a:p>
        </p:txBody>
      </p:sp>
      <p:sp>
        <p:nvSpPr>
          <p:cNvPr id="224" name="TextBox 5"/>
          <p:cNvSpPr/>
          <p:nvPr/>
        </p:nvSpPr>
        <p:spPr>
          <a:xfrm>
            <a:off x="8246160" y="5919120"/>
            <a:ext cx="2919960" cy="63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-1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/>
                <a:ea typeface="DejaVu Sans"/>
              </a:rPr>
              <a:t>memory address space </a:t>
            </a: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-1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/>
                <a:ea typeface="DejaVu Sans"/>
              </a:rPr>
              <a:t>(physical)</a:t>
            </a: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</a:endParaRPr>
          </a:p>
        </p:txBody>
      </p:sp>
      <p:cxnSp>
        <p:nvCxnSpPr>
          <p:cNvPr id="225" name="Straight Arrow Connector 11"/>
          <p:cNvCxnSpPr/>
          <p:nvPr/>
        </p:nvCxnSpPr>
        <p:spPr>
          <a:xfrm>
            <a:off x="10972800" y="3601080"/>
            <a:ext cx="1080" cy="1117440"/>
          </a:xfrm>
          <a:prstGeom prst="straightConnector1">
            <a:avLst/>
          </a:prstGeom>
          <a:ln w="28575" cap="rnd">
            <a:solidFill>
              <a:srgbClr val="9D2D0F"/>
            </a:solidFill>
            <a:round/>
            <a:headEnd type="triangle" w="med" len="med"/>
            <a:tailEnd type="triangle" w="med" len="med"/>
          </a:ln>
        </p:spPr>
      </p:cxnSp>
      <p:sp>
        <p:nvSpPr>
          <p:cNvPr id="226" name="TextBox 12"/>
          <p:cNvSpPr/>
          <p:nvPr/>
        </p:nvSpPr>
        <p:spPr>
          <a:xfrm>
            <a:off x="10984320" y="3898800"/>
            <a:ext cx="68328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-1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/>
                <a:ea typeface="DejaVu Sans"/>
              </a:rPr>
              <a:t>RAM</a:t>
            </a: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</a:endParaRPr>
          </a:p>
        </p:txBody>
      </p:sp>
      <p:sp>
        <p:nvSpPr>
          <p:cNvPr id="227" name="TextBox 18"/>
          <p:cNvSpPr/>
          <p:nvPr/>
        </p:nvSpPr>
        <p:spPr>
          <a:xfrm>
            <a:off x="669600" y="5852880"/>
            <a:ext cx="2997360" cy="63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-1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/>
                <a:ea typeface="DejaVu Sans"/>
              </a:rPr>
              <a:t>process X address space</a:t>
            </a: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-1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/>
                <a:ea typeface="DejaVu Sans"/>
              </a:rPr>
              <a:t>(virtual)</a:t>
            </a: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</a:endParaRPr>
          </a:p>
        </p:txBody>
      </p:sp>
      <p:sp>
        <p:nvSpPr>
          <p:cNvPr id="228" name="Rectangle 24"/>
          <p:cNvSpPr/>
          <p:nvPr/>
        </p:nvSpPr>
        <p:spPr>
          <a:xfrm>
            <a:off x="8744040" y="3601440"/>
            <a:ext cx="1923120" cy="1115280"/>
          </a:xfrm>
          <a:prstGeom prst="rect">
            <a:avLst/>
          </a:prstGeom>
          <a:solidFill>
            <a:schemeClr val="bg1">
              <a:lumMod val="85000"/>
            </a:schemeClr>
          </a:solidFill>
          <a:ln cap="rnd">
            <a:solidFill>
              <a:srgbClr val="7A230B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/>
              <a:ea typeface="DejaVu Sans"/>
            </a:endParaRPr>
          </a:p>
        </p:txBody>
      </p:sp>
      <p:sp>
        <p:nvSpPr>
          <p:cNvPr id="229" name="Rectangle 30"/>
          <p:cNvSpPr/>
          <p:nvPr/>
        </p:nvSpPr>
        <p:spPr>
          <a:xfrm>
            <a:off x="8744040" y="4268160"/>
            <a:ext cx="1923120" cy="245880"/>
          </a:xfrm>
          <a:prstGeom prst="rect">
            <a:avLst/>
          </a:prstGeom>
          <a:solidFill>
            <a:srgbClr val="0070C0"/>
          </a:solidFill>
          <a:ln cap="rnd">
            <a:solidFill>
              <a:srgbClr val="7A230B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/>
              <a:ea typeface="DejaVu Sans"/>
            </a:endParaRPr>
          </a:p>
        </p:txBody>
      </p:sp>
      <p:cxnSp>
        <p:nvCxnSpPr>
          <p:cNvPr id="230" name="Straight Connector 33"/>
          <p:cNvCxnSpPr/>
          <p:nvPr/>
        </p:nvCxnSpPr>
        <p:spPr>
          <a:xfrm>
            <a:off x="6918840" y="1727640"/>
            <a:ext cx="1814760" cy="2036880"/>
          </a:xfrm>
          <a:prstGeom prst="straightConnector1">
            <a:avLst/>
          </a:prstGeom>
          <a:ln w="19050" cap="rnd">
            <a:solidFill>
              <a:srgbClr val="9D2D0F"/>
            </a:solidFill>
            <a:prstDash val="dashDot"/>
            <a:round/>
            <a:headEnd type="triangle" w="lg" len="lg"/>
          </a:ln>
        </p:spPr>
      </p:cxnSp>
      <p:cxnSp>
        <p:nvCxnSpPr>
          <p:cNvPr id="231" name="Straight Connector 34"/>
          <p:cNvCxnSpPr/>
          <p:nvPr/>
        </p:nvCxnSpPr>
        <p:spPr>
          <a:xfrm>
            <a:off x="6918840" y="2115360"/>
            <a:ext cx="1814760" cy="1892880"/>
          </a:xfrm>
          <a:prstGeom prst="straightConnector1">
            <a:avLst/>
          </a:prstGeom>
          <a:ln w="19050" cap="rnd">
            <a:solidFill>
              <a:srgbClr val="9D2D0F"/>
            </a:solidFill>
            <a:prstDash val="dashDot"/>
            <a:round/>
            <a:headEnd type="triangle" w="lg" len="lg"/>
          </a:ln>
        </p:spPr>
      </p:cxnSp>
      <p:cxnSp>
        <p:nvCxnSpPr>
          <p:cNvPr id="232" name="Straight Connector 37"/>
          <p:cNvCxnSpPr/>
          <p:nvPr/>
        </p:nvCxnSpPr>
        <p:spPr>
          <a:xfrm>
            <a:off x="6918840" y="4263120"/>
            <a:ext cx="1730880" cy="1080"/>
          </a:xfrm>
          <a:prstGeom prst="straightConnector1">
            <a:avLst/>
          </a:prstGeom>
          <a:ln w="19050" cap="rnd">
            <a:solidFill>
              <a:srgbClr val="0070C0"/>
            </a:solidFill>
            <a:prstDash val="lgDashDot"/>
            <a:round/>
            <a:headEnd type="triangle" w="lg" len="lg"/>
          </a:ln>
        </p:spPr>
      </p:cxnSp>
      <p:cxnSp>
        <p:nvCxnSpPr>
          <p:cNvPr id="233" name="Straight Connector 40"/>
          <p:cNvCxnSpPr/>
          <p:nvPr/>
        </p:nvCxnSpPr>
        <p:spPr>
          <a:xfrm flipV="1">
            <a:off x="6918840" y="4524480"/>
            <a:ext cx="1825920" cy="623160"/>
          </a:xfrm>
          <a:prstGeom prst="straightConnector1">
            <a:avLst/>
          </a:prstGeom>
          <a:ln w="19050" cap="rnd">
            <a:solidFill>
              <a:srgbClr val="0070C0"/>
            </a:solidFill>
            <a:prstDash val="lgDashDot"/>
            <a:round/>
            <a:headEnd type="triangle" w="lg" len="lg"/>
          </a:ln>
        </p:spPr>
      </p:cxnSp>
      <p:grpSp>
        <p:nvGrpSpPr>
          <p:cNvPr id="234" name="Group 13"/>
          <p:cNvGrpSpPr/>
          <p:nvPr/>
        </p:nvGrpSpPr>
        <p:grpSpPr>
          <a:xfrm>
            <a:off x="1272960" y="1530360"/>
            <a:ext cx="1932840" cy="4234320"/>
            <a:chOff x="1272960" y="1530360"/>
            <a:chExt cx="1932840" cy="4234320"/>
          </a:xfrm>
        </p:grpSpPr>
        <p:sp>
          <p:nvSpPr>
            <p:cNvPr id="235" name="Rectangle 17"/>
            <p:cNvSpPr/>
            <p:nvPr/>
          </p:nvSpPr>
          <p:spPr>
            <a:xfrm>
              <a:off x="1282680" y="1530360"/>
              <a:ext cx="1923120" cy="423432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cap="rnd">
              <a:solidFill>
                <a:srgbClr val="7A230B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-1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entury Gothic"/>
                <a:ea typeface="DejaVu Sans"/>
              </a:endParaRPr>
            </a:p>
          </p:txBody>
        </p:sp>
        <p:sp>
          <p:nvSpPr>
            <p:cNvPr id="236" name="Rectangle 31"/>
            <p:cNvSpPr/>
            <p:nvPr/>
          </p:nvSpPr>
          <p:spPr>
            <a:xfrm>
              <a:off x="1282680" y="2047320"/>
              <a:ext cx="1923120" cy="109332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cap="rnd">
              <a:solidFill>
                <a:srgbClr val="7A230B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-1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/>
                  <a:ea typeface="DejaVu Sans"/>
                </a:rPr>
                <a:t>Mapped segment</a:t>
              </a:r>
              <a:endParaRPr kumimoji="0" lang="en-US" sz="1800" b="0" i="0" u="none" strike="noStrike" kern="1200" cap="none" spc="-1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-1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/>
                  <a:ea typeface="DejaVu Sans"/>
                </a:rPr>
                <a:t>(vb2 buffers)</a:t>
              </a:r>
              <a:endParaRPr kumimoji="0" lang="en-US" sz="1800" b="0" i="0" u="none" strike="noStrike" kern="1200" cap="none" spc="-1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endParaRPr>
            </a:p>
          </p:txBody>
        </p:sp>
        <p:cxnSp>
          <p:nvCxnSpPr>
            <p:cNvPr id="237" name="Straight Connector 44"/>
            <p:cNvCxnSpPr/>
            <p:nvPr/>
          </p:nvCxnSpPr>
          <p:spPr>
            <a:xfrm>
              <a:off x="1272960" y="5236920"/>
              <a:ext cx="1925280" cy="1080"/>
            </a:xfrm>
            <a:prstGeom prst="straightConnector1">
              <a:avLst/>
            </a:prstGeom>
            <a:ln w="28575" cap="rnd">
              <a:solidFill>
                <a:srgbClr val="000000"/>
              </a:solidFill>
              <a:round/>
            </a:ln>
          </p:spPr>
        </p:cxnSp>
        <p:sp>
          <p:nvSpPr>
            <p:cNvPr id="238" name="TextBox 46"/>
            <p:cNvSpPr/>
            <p:nvPr/>
          </p:nvSpPr>
          <p:spPr>
            <a:xfrm>
              <a:off x="1866240" y="5285160"/>
              <a:ext cx="757080" cy="36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t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-1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entury Gothic"/>
                  <a:ea typeface="DejaVu Sans"/>
                </a:rPr>
                <a:t>TEXT</a:t>
              </a:r>
              <a:endParaRPr kumimoji="0" lang="en-US" sz="1800" b="0" i="0" u="none" strike="noStrike" kern="1200" cap="none" spc="-1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endParaRPr>
            </a:p>
          </p:txBody>
        </p:sp>
        <p:cxnSp>
          <p:nvCxnSpPr>
            <p:cNvPr id="239" name="Straight Connector 47"/>
            <p:cNvCxnSpPr/>
            <p:nvPr/>
          </p:nvCxnSpPr>
          <p:spPr>
            <a:xfrm>
              <a:off x="1272960" y="4737240"/>
              <a:ext cx="1925280" cy="1080"/>
            </a:xfrm>
            <a:prstGeom prst="straightConnector1">
              <a:avLst/>
            </a:prstGeom>
            <a:ln w="28575" cap="rnd">
              <a:solidFill>
                <a:srgbClr val="000000"/>
              </a:solidFill>
              <a:round/>
            </a:ln>
          </p:spPr>
        </p:cxnSp>
        <p:sp>
          <p:nvSpPr>
            <p:cNvPr id="240" name="TextBox 48"/>
            <p:cNvSpPr/>
            <p:nvPr/>
          </p:nvSpPr>
          <p:spPr>
            <a:xfrm>
              <a:off x="1885680" y="4785480"/>
              <a:ext cx="621720" cy="36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t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-1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entury Gothic"/>
                  <a:ea typeface="DejaVu Sans"/>
                </a:rPr>
                <a:t>BSS</a:t>
              </a:r>
              <a:endParaRPr kumimoji="0" lang="en-US" sz="1800" b="0" i="0" u="none" strike="noStrike" kern="1200" cap="none" spc="-1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endParaRPr>
            </a:p>
          </p:txBody>
        </p:sp>
      </p:grpSp>
      <p:sp>
        <p:nvSpPr>
          <p:cNvPr id="241" name="TextBox 49"/>
          <p:cNvSpPr/>
          <p:nvPr/>
        </p:nvSpPr>
        <p:spPr>
          <a:xfrm>
            <a:off x="7416000" y="6401160"/>
            <a:ext cx="81972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-1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/>
                <a:ea typeface="DejaVu Sans"/>
              </a:rPr>
              <a:t>MMU</a:t>
            </a: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</a:endParaRPr>
          </a:p>
        </p:txBody>
      </p:sp>
      <p:sp>
        <p:nvSpPr>
          <p:cNvPr id="242" name="Rectangle 27"/>
          <p:cNvSpPr/>
          <p:nvPr/>
        </p:nvSpPr>
        <p:spPr>
          <a:xfrm>
            <a:off x="8744040" y="3763440"/>
            <a:ext cx="1923120" cy="24588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cap="rnd">
            <a:solidFill>
              <a:srgbClr val="7A230B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-1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DejaVu Sans"/>
              </a:rPr>
              <a:t>cma</a:t>
            </a: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</a:endParaRPr>
          </a:p>
        </p:txBody>
      </p:sp>
      <p:sp>
        <p:nvSpPr>
          <p:cNvPr id="243" name="Rectangle 28"/>
          <p:cNvSpPr/>
          <p:nvPr/>
        </p:nvSpPr>
        <p:spPr>
          <a:xfrm>
            <a:off x="4994640" y="1376640"/>
            <a:ext cx="1923120" cy="4456080"/>
          </a:xfrm>
          <a:prstGeom prst="rect">
            <a:avLst/>
          </a:prstGeom>
          <a:solidFill>
            <a:schemeClr val="bg2"/>
          </a:solidFill>
          <a:ln cap="rnd">
            <a:solidFill>
              <a:srgbClr val="7A230B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entury Gothic"/>
              <a:ea typeface="DejaVu Sans"/>
            </a:endParaRPr>
          </a:p>
        </p:txBody>
      </p:sp>
      <p:cxnSp>
        <p:nvCxnSpPr>
          <p:cNvPr id="244" name="Straight Connector 29"/>
          <p:cNvCxnSpPr/>
          <p:nvPr/>
        </p:nvCxnSpPr>
        <p:spPr>
          <a:xfrm>
            <a:off x="4994640" y="2466720"/>
            <a:ext cx="1925280" cy="1080"/>
          </a:xfrm>
          <a:prstGeom prst="straightConnector1">
            <a:avLst/>
          </a:prstGeom>
          <a:ln w="28575" cap="rnd">
            <a:solidFill>
              <a:srgbClr val="000000"/>
            </a:solidFill>
            <a:round/>
          </a:ln>
        </p:spPr>
      </p:cxnSp>
      <p:sp>
        <p:nvSpPr>
          <p:cNvPr id="245" name="Rectangle 39"/>
          <p:cNvSpPr/>
          <p:nvPr/>
        </p:nvSpPr>
        <p:spPr>
          <a:xfrm>
            <a:off x="4994640" y="4268160"/>
            <a:ext cx="1923120" cy="877320"/>
          </a:xfrm>
          <a:prstGeom prst="rect">
            <a:avLst/>
          </a:prstGeom>
          <a:solidFill>
            <a:schemeClr val="bg1">
              <a:lumMod val="85000"/>
            </a:schemeClr>
          </a:solidFill>
          <a:ln cap="rnd">
            <a:solidFill>
              <a:srgbClr val="7A230B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-1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DejaVu Sans"/>
              </a:rPr>
              <a:t>process X</a:t>
            </a: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</a:endParaRPr>
          </a:p>
        </p:txBody>
      </p:sp>
      <p:sp>
        <p:nvSpPr>
          <p:cNvPr id="246" name="Rectangle 41"/>
          <p:cNvSpPr/>
          <p:nvPr/>
        </p:nvSpPr>
        <p:spPr>
          <a:xfrm>
            <a:off x="4994640" y="1728000"/>
            <a:ext cx="1923120" cy="38664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cap="rnd">
            <a:solidFill>
              <a:srgbClr val="7A230B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-1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DejaVu Sans"/>
              </a:rPr>
              <a:t>vb2 buffers</a:t>
            </a: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</a:endParaRPr>
          </a:p>
        </p:txBody>
      </p:sp>
      <p:sp>
        <p:nvSpPr>
          <p:cNvPr id="247" name="TextBox 42"/>
          <p:cNvSpPr/>
          <p:nvPr/>
        </p:nvSpPr>
        <p:spPr>
          <a:xfrm>
            <a:off x="10645200" y="1222560"/>
            <a:ext cx="1246320" cy="302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-1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DejaVu Sans"/>
              </a:rPr>
              <a:t>0xFFFFFFFF</a:t>
            </a:r>
            <a:endParaRPr kumimoji="0" lang="en-US" sz="14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</a:endParaRPr>
          </a:p>
        </p:txBody>
      </p:sp>
      <p:sp>
        <p:nvSpPr>
          <p:cNvPr id="248" name="TextBox 43"/>
          <p:cNvSpPr/>
          <p:nvPr/>
        </p:nvSpPr>
        <p:spPr>
          <a:xfrm>
            <a:off x="10651320" y="5617080"/>
            <a:ext cx="499680" cy="302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-1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DejaVu Sans"/>
              </a:rPr>
              <a:t>0x0</a:t>
            </a:r>
            <a:endParaRPr kumimoji="0" lang="en-US" sz="14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</a:endParaRPr>
          </a:p>
        </p:txBody>
      </p:sp>
      <p:sp>
        <p:nvSpPr>
          <p:cNvPr id="249" name="TextBox 45"/>
          <p:cNvSpPr/>
          <p:nvPr/>
        </p:nvSpPr>
        <p:spPr>
          <a:xfrm>
            <a:off x="5282280" y="2435760"/>
            <a:ext cx="1353240" cy="302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-1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DejaVu Sans"/>
              </a:rPr>
              <a:t>PAGE_OFFSET</a:t>
            </a:r>
            <a:endParaRPr kumimoji="0" lang="en-US" sz="14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</a:endParaRPr>
          </a:p>
        </p:txBody>
      </p:sp>
      <p:sp>
        <p:nvSpPr>
          <p:cNvPr id="250" name="TextBox 50"/>
          <p:cNvSpPr/>
          <p:nvPr/>
        </p:nvSpPr>
        <p:spPr>
          <a:xfrm>
            <a:off x="4292640" y="5867640"/>
            <a:ext cx="3340440" cy="63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-1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/>
                <a:ea typeface="DejaVu Sans"/>
              </a:rPr>
              <a:t>kernel / User address space</a:t>
            </a: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-1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/>
                <a:ea typeface="DejaVu Sans"/>
              </a:rPr>
              <a:t>(virtual)</a:t>
            </a: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</a:endParaRPr>
          </a:p>
        </p:txBody>
      </p:sp>
      <p:cxnSp>
        <p:nvCxnSpPr>
          <p:cNvPr id="251" name="Straight Connector 51"/>
          <p:cNvCxnSpPr/>
          <p:nvPr/>
        </p:nvCxnSpPr>
        <p:spPr>
          <a:xfrm>
            <a:off x="3197160" y="1530360"/>
            <a:ext cx="1798560" cy="2733840"/>
          </a:xfrm>
          <a:prstGeom prst="straightConnector1">
            <a:avLst/>
          </a:prstGeom>
          <a:ln w="19050" cap="rnd">
            <a:solidFill>
              <a:srgbClr val="0070C0"/>
            </a:solidFill>
            <a:prstDash val="lgDashDot"/>
            <a:round/>
            <a:headEnd type="triangle" w="lg" len="lg"/>
          </a:ln>
        </p:spPr>
      </p:cxnSp>
      <p:cxnSp>
        <p:nvCxnSpPr>
          <p:cNvPr id="252" name="Straight Connector 52"/>
          <p:cNvCxnSpPr/>
          <p:nvPr/>
        </p:nvCxnSpPr>
        <p:spPr>
          <a:xfrm flipV="1">
            <a:off x="3206520" y="5146560"/>
            <a:ext cx="1789200" cy="619920"/>
          </a:xfrm>
          <a:prstGeom prst="straightConnector1">
            <a:avLst/>
          </a:prstGeom>
          <a:ln w="19050" cap="rnd">
            <a:solidFill>
              <a:srgbClr val="0070C0"/>
            </a:solidFill>
            <a:prstDash val="lgDashDot"/>
            <a:round/>
            <a:headEnd type="triangle" w="lg" len="lg"/>
          </a:ln>
        </p:spPr>
      </p:cxnSp>
      <p:cxnSp>
        <p:nvCxnSpPr>
          <p:cNvPr id="253" name="Straight Connector 53"/>
          <p:cNvCxnSpPr/>
          <p:nvPr/>
        </p:nvCxnSpPr>
        <p:spPr>
          <a:xfrm flipV="1">
            <a:off x="3197160" y="2115360"/>
            <a:ext cx="1798560" cy="1027440"/>
          </a:xfrm>
          <a:prstGeom prst="straightConnector1">
            <a:avLst/>
          </a:prstGeom>
          <a:ln w="19050" cap="rnd">
            <a:solidFill>
              <a:srgbClr val="9D2D0F"/>
            </a:solidFill>
            <a:prstDash val="dashDot"/>
            <a:round/>
            <a:headEnd type="triangle" w="lg" len="lg"/>
          </a:ln>
        </p:spPr>
      </p:cxnSp>
      <p:cxnSp>
        <p:nvCxnSpPr>
          <p:cNvPr id="254" name="Straight Connector 54"/>
          <p:cNvCxnSpPr/>
          <p:nvPr/>
        </p:nvCxnSpPr>
        <p:spPr>
          <a:xfrm flipV="1">
            <a:off x="3206520" y="1727640"/>
            <a:ext cx="1789200" cy="320760"/>
          </a:xfrm>
          <a:prstGeom prst="straightConnector1">
            <a:avLst/>
          </a:prstGeom>
          <a:ln w="19050" cap="rnd">
            <a:solidFill>
              <a:srgbClr val="9D2D0F"/>
            </a:solidFill>
            <a:prstDash val="dashDot"/>
            <a:round/>
            <a:headEnd type="triangle" w="lg" len="lg"/>
          </a:ln>
        </p:spPr>
      </p:cxnSp>
      <p:cxnSp>
        <p:nvCxnSpPr>
          <p:cNvPr id="255" name="Straight Connector 6"/>
          <p:cNvCxnSpPr>
            <a:stCxn id="241" idx="0"/>
          </p:cNvCxnSpPr>
          <p:nvPr/>
        </p:nvCxnSpPr>
        <p:spPr>
          <a:xfrm flipV="1">
            <a:off x="7825680" y="704520"/>
            <a:ext cx="1080" cy="5697000"/>
          </a:xfrm>
          <a:prstGeom prst="straightConnector1">
            <a:avLst/>
          </a:prstGeom>
          <a:ln w="19050" cap="rnd">
            <a:solidFill>
              <a:srgbClr val="BFBFBF"/>
            </a:solidFill>
            <a:prstDash val="dashDot"/>
            <a:round/>
          </a:ln>
        </p:spPr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C66D8A4-F881-46C2-A955-8AED9975FE46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130B98FF-4A02-4D16-9C69-04FB3D46DB77}" type="slidenum">
              <a:rPr lang="en-US" smtClean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8ADE14-3E12-4247-970D-3FE985F501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Mapping buffers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0DC6FC9B-E976-408C-A9DC-C128D88EDD61}"/>
              </a:ext>
            </a:extLst>
          </p:cNvPr>
          <p:cNvGrpSpPr/>
          <p:nvPr/>
        </p:nvGrpSpPr>
        <p:grpSpPr>
          <a:xfrm>
            <a:off x="1214822" y="1757108"/>
            <a:ext cx="2997360" cy="4919760"/>
            <a:chOff x="9044372" y="1761780"/>
            <a:chExt cx="2997360" cy="4919760"/>
          </a:xfrm>
        </p:grpSpPr>
        <p:sp>
          <p:nvSpPr>
            <p:cNvPr id="4" name="TextBox 18">
              <a:extLst>
                <a:ext uri="{FF2B5EF4-FFF2-40B4-BE49-F238E27FC236}">
                  <a16:creationId xmlns:a16="http://schemas.microsoft.com/office/drawing/2014/main" id="{D9C74F84-F992-47F1-B2EB-9AE7DD8C46B5}"/>
                </a:ext>
              </a:extLst>
            </p:cNvPr>
            <p:cNvSpPr/>
            <p:nvPr/>
          </p:nvSpPr>
          <p:spPr>
            <a:xfrm>
              <a:off x="9044372" y="6043260"/>
              <a:ext cx="2997360" cy="63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t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-1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entury Gothic"/>
                  <a:ea typeface="DejaVu Sans"/>
                </a:rPr>
                <a:t>process X address space</a:t>
              </a:r>
              <a:endParaRPr kumimoji="0" lang="en-US" sz="1800" b="0" i="0" u="none" strike="noStrike" kern="1200" cap="none" spc="-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-1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entury Gothic"/>
                  <a:ea typeface="DejaVu Sans"/>
                </a:rPr>
                <a:t>(virtual)</a:t>
              </a:r>
              <a:endParaRPr kumimoji="0" lang="en-US" sz="1800" b="0" i="0" u="none" strike="noStrike" kern="1200" cap="none" spc="-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endParaRPr>
            </a:p>
          </p:txBody>
        </p:sp>
        <p:grpSp>
          <p:nvGrpSpPr>
            <p:cNvPr id="5" name="Group 13">
              <a:extLst>
                <a:ext uri="{FF2B5EF4-FFF2-40B4-BE49-F238E27FC236}">
                  <a16:creationId xmlns:a16="http://schemas.microsoft.com/office/drawing/2014/main" id="{B83B6693-35CF-4716-B185-5C1857D0EB81}"/>
                </a:ext>
              </a:extLst>
            </p:cNvPr>
            <p:cNvGrpSpPr/>
            <p:nvPr/>
          </p:nvGrpSpPr>
          <p:grpSpPr>
            <a:xfrm>
              <a:off x="9571772" y="1761780"/>
              <a:ext cx="1932840" cy="4234320"/>
              <a:chOff x="1272960" y="1530360"/>
              <a:chExt cx="1932840" cy="4234320"/>
            </a:xfrm>
          </p:grpSpPr>
          <p:sp>
            <p:nvSpPr>
              <p:cNvPr id="6" name="Rectangle 17">
                <a:extLst>
                  <a:ext uri="{FF2B5EF4-FFF2-40B4-BE49-F238E27FC236}">
                    <a16:creationId xmlns:a16="http://schemas.microsoft.com/office/drawing/2014/main" id="{001EBBDA-B481-4129-A119-C2E54D241227}"/>
                  </a:ext>
                </a:extLst>
              </p:cNvPr>
              <p:cNvSpPr/>
              <p:nvPr/>
            </p:nvSpPr>
            <p:spPr>
              <a:xfrm>
                <a:off x="1282680" y="1530360"/>
                <a:ext cx="1923120" cy="423432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cap="rnd">
                <a:solidFill>
                  <a:srgbClr val="7A230B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-1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entury Gothic"/>
                  <a:ea typeface="DejaVu Sans"/>
                </a:endParaRPr>
              </a:p>
            </p:txBody>
          </p:sp>
          <p:sp>
            <p:nvSpPr>
              <p:cNvPr id="7" name="Rectangle 31">
                <a:extLst>
                  <a:ext uri="{FF2B5EF4-FFF2-40B4-BE49-F238E27FC236}">
                    <a16:creationId xmlns:a16="http://schemas.microsoft.com/office/drawing/2014/main" id="{7793E953-4FF7-4DD1-B844-4669DB609473}"/>
                  </a:ext>
                </a:extLst>
              </p:cNvPr>
              <p:cNvSpPr/>
              <p:nvPr/>
            </p:nvSpPr>
            <p:spPr>
              <a:xfrm>
                <a:off x="1282680" y="1894920"/>
                <a:ext cx="1923120" cy="419089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 cap="rnd">
                <a:solidFill>
                  <a:srgbClr val="7A230B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pc="-1" dirty="0">
                    <a:solidFill>
                      <a:srgbClr val="000000"/>
                    </a:solidFill>
                    <a:latin typeface="Consolas"/>
                  </a:rPr>
                  <a:t>buf0</a:t>
                </a:r>
                <a:endParaRPr kumimoji="0" lang="en-US" sz="1800" b="0" i="0" u="none" strike="noStrike" kern="1200" cap="none" spc="-1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</a:endParaRPr>
              </a:p>
            </p:txBody>
          </p:sp>
          <p:cxnSp>
            <p:nvCxnSpPr>
              <p:cNvPr id="8" name="Straight Connector 44">
                <a:extLst>
                  <a:ext uri="{FF2B5EF4-FFF2-40B4-BE49-F238E27FC236}">
                    <a16:creationId xmlns:a16="http://schemas.microsoft.com/office/drawing/2014/main" id="{C24E05DF-73AF-40A4-8BDD-8AD4987CCF40}"/>
                  </a:ext>
                </a:extLst>
              </p:cNvPr>
              <p:cNvCxnSpPr/>
              <p:nvPr/>
            </p:nvCxnSpPr>
            <p:spPr>
              <a:xfrm>
                <a:off x="1272960" y="5236920"/>
                <a:ext cx="1925280" cy="1080"/>
              </a:xfrm>
              <a:prstGeom prst="straightConnector1">
                <a:avLst/>
              </a:prstGeom>
              <a:ln w="28575" cap="rnd">
                <a:solidFill>
                  <a:srgbClr val="000000"/>
                </a:solidFill>
                <a:round/>
              </a:ln>
            </p:spPr>
          </p:cxnSp>
          <p:sp>
            <p:nvSpPr>
              <p:cNvPr id="9" name="TextBox 46">
                <a:extLst>
                  <a:ext uri="{FF2B5EF4-FFF2-40B4-BE49-F238E27FC236}">
                    <a16:creationId xmlns:a16="http://schemas.microsoft.com/office/drawing/2014/main" id="{3618DB46-E8BA-4EB0-8F1D-75AFA12A42EC}"/>
                  </a:ext>
                </a:extLst>
              </p:cNvPr>
              <p:cNvSpPr/>
              <p:nvPr/>
            </p:nvSpPr>
            <p:spPr>
              <a:xfrm>
                <a:off x="1866240" y="5285160"/>
                <a:ext cx="757080" cy="363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none" lIns="90000" tIns="45000" rIns="90000" bIns="45000" anchor="t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-1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entury Gothic"/>
                    <a:ea typeface="DejaVu Sans"/>
                  </a:rPr>
                  <a:t>TEXT</a:t>
                </a:r>
                <a:endParaRPr kumimoji="0" lang="en-US" sz="1800" b="0" i="0" u="none" strike="noStrike" kern="1200" cap="none" spc="-1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</a:endParaRPr>
              </a:p>
            </p:txBody>
          </p:sp>
          <p:cxnSp>
            <p:nvCxnSpPr>
              <p:cNvPr id="10" name="Straight Connector 47">
                <a:extLst>
                  <a:ext uri="{FF2B5EF4-FFF2-40B4-BE49-F238E27FC236}">
                    <a16:creationId xmlns:a16="http://schemas.microsoft.com/office/drawing/2014/main" id="{3BA139D9-B730-4D4D-BD9C-11FD97F8271A}"/>
                  </a:ext>
                </a:extLst>
              </p:cNvPr>
              <p:cNvCxnSpPr/>
              <p:nvPr/>
            </p:nvCxnSpPr>
            <p:spPr>
              <a:xfrm>
                <a:off x="1272960" y="4737240"/>
                <a:ext cx="1925280" cy="1080"/>
              </a:xfrm>
              <a:prstGeom prst="straightConnector1">
                <a:avLst/>
              </a:prstGeom>
              <a:ln w="28575" cap="rnd">
                <a:solidFill>
                  <a:srgbClr val="000000"/>
                </a:solidFill>
                <a:round/>
              </a:ln>
            </p:spPr>
          </p:cxnSp>
          <p:sp>
            <p:nvSpPr>
              <p:cNvPr id="11" name="TextBox 48">
                <a:extLst>
                  <a:ext uri="{FF2B5EF4-FFF2-40B4-BE49-F238E27FC236}">
                    <a16:creationId xmlns:a16="http://schemas.microsoft.com/office/drawing/2014/main" id="{36240EC3-AF9B-47FD-9AD5-6D48B17FB3E1}"/>
                  </a:ext>
                </a:extLst>
              </p:cNvPr>
              <p:cNvSpPr/>
              <p:nvPr/>
            </p:nvSpPr>
            <p:spPr>
              <a:xfrm>
                <a:off x="1885680" y="4785480"/>
                <a:ext cx="621720" cy="363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none" lIns="90000" tIns="45000" rIns="90000" bIns="45000" anchor="t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-1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entury Gothic"/>
                    <a:ea typeface="DejaVu Sans"/>
                  </a:rPr>
                  <a:t>BSS</a:t>
                </a:r>
                <a:endParaRPr kumimoji="0" lang="en-US" sz="1800" b="0" i="0" u="none" strike="noStrike" kern="1200" cap="none" spc="-1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</a:endParaRPr>
              </a:p>
            </p:txBody>
          </p:sp>
        </p:grpSp>
        <p:sp>
          <p:nvSpPr>
            <p:cNvPr id="12" name="Rectangle 31">
              <a:extLst>
                <a:ext uri="{FF2B5EF4-FFF2-40B4-BE49-F238E27FC236}">
                  <a16:creationId xmlns:a16="http://schemas.microsoft.com/office/drawing/2014/main" id="{04480E12-415A-4C4E-B5E0-073FF7409271}"/>
                </a:ext>
              </a:extLst>
            </p:cNvPr>
            <p:cNvSpPr/>
            <p:nvPr/>
          </p:nvSpPr>
          <p:spPr>
            <a:xfrm>
              <a:off x="9581297" y="2548297"/>
              <a:ext cx="1923120" cy="415849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cap="rnd">
              <a:solidFill>
                <a:srgbClr val="7A230B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pc="-1" dirty="0">
                  <a:solidFill>
                    <a:srgbClr val="000000"/>
                  </a:solidFill>
                  <a:latin typeface="Consolas"/>
                </a:rPr>
                <a:t>buf1</a:t>
              </a:r>
              <a:endParaRPr kumimoji="0" lang="en-US" sz="1800" b="0" i="0" u="none" strike="noStrike" kern="1200" cap="none" spc="-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80DEC179-E840-4115-9624-0713AD559FD3}"/>
              </a:ext>
            </a:extLst>
          </p:cNvPr>
          <p:cNvGrpSpPr/>
          <p:nvPr/>
        </p:nvGrpSpPr>
        <p:grpSpPr>
          <a:xfrm>
            <a:off x="4728655" y="1433258"/>
            <a:ext cx="3859176" cy="1338904"/>
            <a:chOff x="4143249" y="1870083"/>
            <a:chExt cx="3859176" cy="1338904"/>
          </a:xfrm>
        </p:grpSpPr>
        <p:sp>
          <p:nvSpPr>
            <p:cNvPr id="16" name="Rectangle 31">
              <a:extLst>
                <a:ext uri="{FF2B5EF4-FFF2-40B4-BE49-F238E27FC236}">
                  <a16:creationId xmlns:a16="http://schemas.microsoft.com/office/drawing/2014/main" id="{0BB7793D-6F82-4B03-9CDA-DBE0EF138C74}"/>
                </a:ext>
              </a:extLst>
            </p:cNvPr>
            <p:cNvSpPr/>
            <p:nvPr/>
          </p:nvSpPr>
          <p:spPr>
            <a:xfrm>
              <a:off x="4328251" y="2339662"/>
              <a:ext cx="867433" cy="869325"/>
            </a:xfrm>
            <a:prstGeom prst="rect">
              <a:avLst/>
            </a:prstGeom>
            <a:solidFill>
              <a:srgbClr val="92D050"/>
            </a:solidFill>
            <a:ln cap="rnd">
              <a:solidFill>
                <a:srgbClr val="7A230B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600" spc="-1" dirty="0">
                  <a:solidFill>
                    <a:srgbClr val="000000"/>
                  </a:solidFill>
                  <a:latin typeface="Consolas"/>
                </a:rPr>
                <a:t>.</a:t>
              </a:r>
              <a:r>
                <a:rPr lang="en-US" sz="1600" spc="-1" dirty="0" err="1">
                  <a:solidFill>
                    <a:srgbClr val="000000"/>
                  </a:solidFill>
                  <a:latin typeface="Consolas"/>
                </a:rPr>
                <a:t>addr</a:t>
              </a:r>
              <a:endParaRPr lang="en-US" sz="1600" spc="-1" dirty="0">
                <a:solidFill>
                  <a:srgbClr val="000000"/>
                </a:solidFill>
                <a:latin typeface="Consolas"/>
              </a:endParaRPr>
            </a:p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-1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/>
                </a:rPr>
                <a:t>.</a:t>
              </a:r>
              <a:r>
                <a:rPr lang="en-US" sz="1600" spc="-1" dirty="0" err="1">
                  <a:solidFill>
                    <a:srgbClr val="000000"/>
                  </a:solidFill>
                  <a:latin typeface="Consolas"/>
                </a:rPr>
                <a:t>len</a:t>
              </a:r>
              <a:endParaRPr kumimoji="0" lang="en-US" sz="1600" b="0" i="0" u="none" strike="noStrike" kern="1200" cap="none" spc="-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endParaRPr>
            </a:p>
          </p:txBody>
        </p:sp>
        <p:sp>
          <p:nvSpPr>
            <p:cNvPr id="17" name="Rectangle 31">
              <a:extLst>
                <a:ext uri="{FF2B5EF4-FFF2-40B4-BE49-F238E27FC236}">
                  <a16:creationId xmlns:a16="http://schemas.microsoft.com/office/drawing/2014/main" id="{84124873-1CDA-4D66-8DA4-72B62AEC395B}"/>
                </a:ext>
              </a:extLst>
            </p:cNvPr>
            <p:cNvSpPr/>
            <p:nvPr/>
          </p:nvSpPr>
          <p:spPr>
            <a:xfrm>
              <a:off x="5205404" y="2339662"/>
              <a:ext cx="867433" cy="869325"/>
            </a:xfrm>
            <a:prstGeom prst="rect">
              <a:avLst/>
            </a:prstGeom>
            <a:solidFill>
              <a:srgbClr val="92D050"/>
            </a:solidFill>
            <a:ln cap="rnd">
              <a:solidFill>
                <a:srgbClr val="7A230B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600" spc="-1" dirty="0">
                  <a:solidFill>
                    <a:srgbClr val="000000"/>
                  </a:solidFill>
                  <a:latin typeface="Consolas"/>
                </a:rPr>
                <a:t>.</a:t>
              </a:r>
              <a:r>
                <a:rPr lang="en-US" sz="1600" spc="-1" dirty="0" err="1">
                  <a:solidFill>
                    <a:srgbClr val="000000"/>
                  </a:solidFill>
                  <a:latin typeface="Consolas"/>
                </a:rPr>
                <a:t>addr</a:t>
              </a:r>
              <a:endParaRPr lang="en-US" sz="1600" spc="-1" dirty="0">
                <a:solidFill>
                  <a:srgbClr val="000000"/>
                </a:solidFill>
                <a:latin typeface="Consolas"/>
              </a:endParaRPr>
            </a:p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-1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/>
                </a:rPr>
                <a:t>.</a:t>
              </a:r>
              <a:r>
                <a:rPr lang="en-US" sz="1600" spc="-1" dirty="0" err="1">
                  <a:solidFill>
                    <a:srgbClr val="000000"/>
                  </a:solidFill>
                  <a:latin typeface="Consolas"/>
                </a:rPr>
                <a:t>len</a:t>
              </a:r>
              <a:endParaRPr kumimoji="0" lang="en-US" sz="1600" b="0" i="0" u="none" strike="noStrike" kern="1200" cap="none" spc="-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endParaRPr>
            </a:p>
          </p:txBody>
        </p:sp>
        <p:sp>
          <p:nvSpPr>
            <p:cNvPr id="18" name="Rectangle 31">
              <a:extLst>
                <a:ext uri="{FF2B5EF4-FFF2-40B4-BE49-F238E27FC236}">
                  <a16:creationId xmlns:a16="http://schemas.microsoft.com/office/drawing/2014/main" id="{1BF2340E-BD88-4349-8CDD-DD834E68A7DF}"/>
                </a:ext>
              </a:extLst>
            </p:cNvPr>
            <p:cNvSpPr/>
            <p:nvPr/>
          </p:nvSpPr>
          <p:spPr>
            <a:xfrm>
              <a:off x="6082557" y="2339662"/>
              <a:ext cx="867433" cy="869325"/>
            </a:xfrm>
            <a:prstGeom prst="rect">
              <a:avLst/>
            </a:prstGeom>
            <a:solidFill>
              <a:srgbClr val="92D050"/>
            </a:solidFill>
            <a:ln cap="rnd">
              <a:solidFill>
                <a:srgbClr val="7A230B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600" spc="-1" dirty="0">
                  <a:solidFill>
                    <a:srgbClr val="000000"/>
                  </a:solidFill>
                  <a:latin typeface="Consolas"/>
                </a:rPr>
                <a:t>.</a:t>
              </a:r>
              <a:r>
                <a:rPr lang="en-US" sz="1600" spc="-1" dirty="0" err="1">
                  <a:solidFill>
                    <a:srgbClr val="000000"/>
                  </a:solidFill>
                  <a:latin typeface="Consolas"/>
                </a:rPr>
                <a:t>addr</a:t>
              </a:r>
              <a:endParaRPr lang="en-US" sz="1600" spc="-1" dirty="0">
                <a:solidFill>
                  <a:srgbClr val="000000"/>
                </a:solidFill>
                <a:latin typeface="Consolas"/>
              </a:endParaRPr>
            </a:p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-1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/>
                </a:rPr>
                <a:t>.</a:t>
              </a:r>
              <a:r>
                <a:rPr lang="en-US" sz="1600" spc="-1" dirty="0" err="1">
                  <a:solidFill>
                    <a:srgbClr val="000000"/>
                  </a:solidFill>
                  <a:latin typeface="Consolas"/>
                </a:rPr>
                <a:t>len</a:t>
              </a:r>
              <a:endParaRPr kumimoji="0" lang="en-US" sz="1600" b="0" i="0" u="none" strike="noStrike" kern="1200" cap="none" spc="-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endParaRPr>
            </a:p>
          </p:txBody>
        </p:sp>
        <p:sp>
          <p:nvSpPr>
            <p:cNvPr id="19" name="Rectangle 31">
              <a:extLst>
                <a:ext uri="{FF2B5EF4-FFF2-40B4-BE49-F238E27FC236}">
                  <a16:creationId xmlns:a16="http://schemas.microsoft.com/office/drawing/2014/main" id="{A760F434-1E5E-4CAF-B011-ADE79BDD45F2}"/>
                </a:ext>
              </a:extLst>
            </p:cNvPr>
            <p:cNvSpPr/>
            <p:nvPr/>
          </p:nvSpPr>
          <p:spPr>
            <a:xfrm>
              <a:off x="6959710" y="2339662"/>
              <a:ext cx="867433" cy="869325"/>
            </a:xfrm>
            <a:prstGeom prst="rect">
              <a:avLst/>
            </a:prstGeom>
            <a:solidFill>
              <a:srgbClr val="92D050"/>
            </a:solidFill>
            <a:ln cap="rnd">
              <a:solidFill>
                <a:srgbClr val="7A230B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600" spc="-1" dirty="0">
                  <a:solidFill>
                    <a:srgbClr val="000000"/>
                  </a:solidFill>
                  <a:latin typeface="Consolas"/>
                </a:rPr>
                <a:t>.</a:t>
              </a:r>
              <a:r>
                <a:rPr lang="en-US" sz="1600" spc="-1" dirty="0" err="1">
                  <a:solidFill>
                    <a:srgbClr val="000000"/>
                  </a:solidFill>
                  <a:latin typeface="Consolas"/>
                </a:rPr>
                <a:t>addr</a:t>
              </a:r>
              <a:endParaRPr lang="en-US" sz="1600" spc="-1" dirty="0">
                <a:solidFill>
                  <a:srgbClr val="000000"/>
                </a:solidFill>
                <a:latin typeface="Consolas"/>
              </a:endParaRPr>
            </a:p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-1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/>
                </a:rPr>
                <a:t>.</a:t>
              </a:r>
              <a:r>
                <a:rPr lang="en-US" sz="1600" spc="-1" dirty="0" err="1">
                  <a:solidFill>
                    <a:srgbClr val="000000"/>
                  </a:solidFill>
                  <a:latin typeface="Consolas"/>
                </a:rPr>
                <a:t>len</a:t>
              </a:r>
              <a:endParaRPr kumimoji="0" lang="en-US" sz="1600" b="0" i="0" u="none" strike="noStrike" kern="1200" cap="none" spc="-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endParaRPr>
            </a:p>
          </p:txBody>
        </p:sp>
        <p:sp>
          <p:nvSpPr>
            <p:cNvPr id="20" name="TextBox 18">
              <a:extLst>
                <a:ext uri="{FF2B5EF4-FFF2-40B4-BE49-F238E27FC236}">
                  <a16:creationId xmlns:a16="http://schemas.microsoft.com/office/drawing/2014/main" id="{2D574AC1-845C-4CEF-AD52-E8DADE30048D}"/>
                </a:ext>
              </a:extLst>
            </p:cNvPr>
            <p:cNvSpPr/>
            <p:nvPr/>
          </p:nvSpPr>
          <p:spPr>
            <a:xfrm>
              <a:off x="4143249" y="1870083"/>
              <a:ext cx="3859176" cy="367878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square" lIns="90000" tIns="45000" rIns="90000" bIns="45000" anchor="t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-1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</a:rPr>
                <a:t>struct v4l2_frame_buff</a:t>
              </a: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C1BE5AC5-DE7F-4E54-8F6D-0F7E7302D858}"/>
              </a:ext>
            </a:extLst>
          </p:cNvPr>
          <p:cNvGrpSpPr/>
          <p:nvPr/>
        </p:nvGrpSpPr>
        <p:grpSpPr>
          <a:xfrm>
            <a:off x="8894325" y="1414208"/>
            <a:ext cx="3091465" cy="1339352"/>
            <a:chOff x="8894325" y="1880933"/>
            <a:chExt cx="3091465" cy="1339352"/>
          </a:xfrm>
        </p:grpSpPr>
        <p:sp>
          <p:nvSpPr>
            <p:cNvPr id="21" name="Rectangle 31">
              <a:extLst>
                <a:ext uri="{FF2B5EF4-FFF2-40B4-BE49-F238E27FC236}">
                  <a16:creationId xmlns:a16="http://schemas.microsoft.com/office/drawing/2014/main" id="{08B0819B-B861-41AB-A027-94E61AA99F66}"/>
                </a:ext>
              </a:extLst>
            </p:cNvPr>
            <p:cNvSpPr/>
            <p:nvPr/>
          </p:nvSpPr>
          <p:spPr>
            <a:xfrm>
              <a:off x="9754059" y="2350960"/>
              <a:ext cx="1187307" cy="869325"/>
            </a:xfrm>
            <a:prstGeom prst="rect">
              <a:avLst/>
            </a:prstGeom>
            <a:solidFill>
              <a:srgbClr val="0070C0"/>
            </a:solidFill>
            <a:ln cap="rnd">
              <a:solidFill>
                <a:srgbClr val="7A230B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pc="-1" dirty="0">
                  <a:solidFill>
                    <a:srgbClr val="000000"/>
                  </a:solidFill>
                  <a:latin typeface="Consolas"/>
                </a:rPr>
                <a:t>.buffs</a:t>
              </a:r>
            </a:p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-1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/>
                </a:rPr>
                <a:t>.</a:t>
              </a:r>
              <a:r>
                <a:rPr lang="en-US" spc="-1" dirty="0">
                  <a:solidFill>
                    <a:srgbClr val="000000"/>
                  </a:solidFill>
                  <a:latin typeface="Consolas"/>
                </a:rPr>
                <a:t>count</a:t>
              </a:r>
              <a:endParaRPr kumimoji="0" lang="en-US" sz="1800" b="0" i="0" u="none" strike="noStrike" kern="1200" cap="none" spc="-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endParaRPr>
            </a:p>
          </p:txBody>
        </p:sp>
        <p:sp>
          <p:nvSpPr>
            <p:cNvPr id="22" name="TextBox 18">
              <a:extLst>
                <a:ext uri="{FF2B5EF4-FFF2-40B4-BE49-F238E27FC236}">
                  <a16:creationId xmlns:a16="http://schemas.microsoft.com/office/drawing/2014/main" id="{375E16CC-F9D1-445D-9E51-38FDD440CF47}"/>
                </a:ext>
              </a:extLst>
            </p:cNvPr>
            <p:cNvSpPr/>
            <p:nvPr/>
          </p:nvSpPr>
          <p:spPr>
            <a:xfrm>
              <a:off x="8894325" y="1880933"/>
              <a:ext cx="3091465" cy="367878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t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-1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</a:rPr>
                <a:t>struct v4l2_buffer_pool</a:t>
              </a:r>
            </a:p>
          </p:txBody>
        </p:sp>
      </p:grpSp>
      <p:cxnSp>
        <p:nvCxnSpPr>
          <p:cNvPr id="44" name="Connector: Elbow 43">
            <a:extLst>
              <a:ext uri="{FF2B5EF4-FFF2-40B4-BE49-F238E27FC236}">
                <a16:creationId xmlns:a16="http://schemas.microsoft.com/office/drawing/2014/main" id="{D94D0011-1B8F-4D7B-B852-04F44A0EAA92}"/>
              </a:ext>
            </a:extLst>
          </p:cNvPr>
          <p:cNvCxnSpPr>
            <a:cxnSpLocks/>
            <a:stCxn id="16" idx="1"/>
            <a:endCxn id="7" idx="3"/>
          </p:cNvCxnSpPr>
          <p:nvPr/>
        </p:nvCxnSpPr>
        <p:spPr>
          <a:xfrm rot="10800000">
            <a:off x="3675063" y="2331214"/>
            <a:ext cx="1238595" cy="6287"/>
          </a:xfrm>
          <a:prstGeom prst="bentConnector3">
            <a:avLst>
              <a:gd name="adj1" fmla="val 50000"/>
            </a:avLst>
          </a:prstGeom>
          <a:ln w="28575">
            <a:solidFill>
              <a:srgbClr val="002060"/>
            </a:solidFill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nector: Elbow 45">
            <a:extLst>
              <a:ext uri="{FF2B5EF4-FFF2-40B4-BE49-F238E27FC236}">
                <a16:creationId xmlns:a16="http://schemas.microsoft.com/office/drawing/2014/main" id="{D805FF1F-74C5-4122-A828-98B6617430E4}"/>
              </a:ext>
            </a:extLst>
          </p:cNvPr>
          <p:cNvCxnSpPr>
            <a:cxnSpLocks/>
            <a:stCxn id="17" idx="2"/>
            <a:endCxn id="12" idx="3"/>
          </p:cNvCxnSpPr>
          <p:nvPr/>
        </p:nvCxnSpPr>
        <p:spPr>
          <a:xfrm rot="5400000" flipH="1">
            <a:off x="4939391" y="1487026"/>
            <a:ext cx="20612" cy="2549660"/>
          </a:xfrm>
          <a:prstGeom prst="bentConnector4">
            <a:avLst>
              <a:gd name="adj1" fmla="val -1109063"/>
              <a:gd name="adj2" fmla="val 58505"/>
            </a:avLst>
          </a:prstGeom>
          <a:ln w="28575">
            <a:solidFill>
              <a:srgbClr val="002060"/>
            </a:solidFill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A3489FB3-B380-4986-9025-CDA3DC605122}"/>
              </a:ext>
            </a:extLst>
          </p:cNvPr>
          <p:cNvCxnSpPr>
            <a:stCxn id="21" idx="1"/>
            <a:endCxn id="19" idx="3"/>
          </p:cNvCxnSpPr>
          <p:nvPr/>
        </p:nvCxnSpPr>
        <p:spPr>
          <a:xfrm flipH="1">
            <a:off x="8412549" y="2318898"/>
            <a:ext cx="1341510" cy="18602"/>
          </a:xfrm>
          <a:prstGeom prst="straightConnector1">
            <a:avLst/>
          </a:prstGeom>
          <a:ln w="38100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Rectangle 31">
            <a:extLst>
              <a:ext uri="{FF2B5EF4-FFF2-40B4-BE49-F238E27FC236}">
                <a16:creationId xmlns:a16="http://schemas.microsoft.com/office/drawing/2014/main" id="{3943F03C-EC87-41C3-83DD-F97532A21028}"/>
              </a:ext>
            </a:extLst>
          </p:cNvPr>
          <p:cNvSpPr/>
          <p:nvPr/>
        </p:nvSpPr>
        <p:spPr>
          <a:xfrm>
            <a:off x="1751747" y="2961671"/>
            <a:ext cx="1923120" cy="41584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cap="rnd">
            <a:solidFill>
              <a:srgbClr val="7A230B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pc="-1" dirty="0">
                <a:solidFill>
                  <a:srgbClr val="000000"/>
                </a:solidFill>
                <a:latin typeface="Consolas"/>
              </a:rPr>
              <a:t>buf2</a:t>
            </a:r>
            <a:endParaRPr kumimoji="0" lang="en-US" sz="18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</a:endParaRPr>
          </a:p>
        </p:txBody>
      </p:sp>
      <p:cxnSp>
        <p:nvCxnSpPr>
          <p:cNvPr id="54" name="Connector: Elbow 53">
            <a:extLst>
              <a:ext uri="{FF2B5EF4-FFF2-40B4-BE49-F238E27FC236}">
                <a16:creationId xmlns:a16="http://schemas.microsoft.com/office/drawing/2014/main" id="{6471C140-0312-4ACD-A8C4-A13CF74CD8E8}"/>
              </a:ext>
            </a:extLst>
          </p:cNvPr>
          <p:cNvCxnSpPr>
            <a:cxnSpLocks/>
            <a:stCxn id="18" idx="2"/>
            <a:endCxn id="53" idx="3"/>
          </p:cNvCxnSpPr>
          <p:nvPr/>
        </p:nvCxnSpPr>
        <p:spPr>
          <a:xfrm rot="5400000">
            <a:off x="5189557" y="1257473"/>
            <a:ext cx="397434" cy="3426813"/>
          </a:xfrm>
          <a:prstGeom prst="bentConnector2">
            <a:avLst/>
          </a:prstGeom>
          <a:ln w="28575">
            <a:solidFill>
              <a:srgbClr val="002060"/>
            </a:solidFill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Rectangle 31">
            <a:extLst>
              <a:ext uri="{FF2B5EF4-FFF2-40B4-BE49-F238E27FC236}">
                <a16:creationId xmlns:a16="http://schemas.microsoft.com/office/drawing/2014/main" id="{3B113A7C-6F13-4881-A47B-D1868D2C9657}"/>
              </a:ext>
            </a:extLst>
          </p:cNvPr>
          <p:cNvSpPr/>
          <p:nvPr/>
        </p:nvSpPr>
        <p:spPr>
          <a:xfrm>
            <a:off x="1753546" y="3376907"/>
            <a:ext cx="1923120" cy="41584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cap="rnd">
            <a:solidFill>
              <a:srgbClr val="7A230B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pc="-1" dirty="0">
                <a:solidFill>
                  <a:srgbClr val="000000"/>
                </a:solidFill>
                <a:latin typeface="Consolas"/>
              </a:rPr>
              <a:t>buf3</a:t>
            </a:r>
            <a:endParaRPr kumimoji="0" lang="en-US" sz="18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</a:endParaRPr>
          </a:p>
        </p:txBody>
      </p:sp>
      <p:cxnSp>
        <p:nvCxnSpPr>
          <p:cNvPr id="56" name="Connector: Elbow 55">
            <a:extLst>
              <a:ext uri="{FF2B5EF4-FFF2-40B4-BE49-F238E27FC236}">
                <a16:creationId xmlns:a16="http://schemas.microsoft.com/office/drawing/2014/main" id="{46E908B9-A262-42C5-A573-356F6D732ECD}"/>
              </a:ext>
            </a:extLst>
          </p:cNvPr>
          <p:cNvCxnSpPr>
            <a:cxnSpLocks/>
            <a:stCxn id="19" idx="2"/>
            <a:endCxn id="55" idx="3"/>
          </p:cNvCxnSpPr>
          <p:nvPr/>
        </p:nvCxnSpPr>
        <p:spPr>
          <a:xfrm rot="5400000">
            <a:off x="5421415" y="1027414"/>
            <a:ext cx="812670" cy="4302167"/>
          </a:xfrm>
          <a:prstGeom prst="bentConnector2">
            <a:avLst/>
          </a:prstGeom>
          <a:ln w="28575">
            <a:solidFill>
              <a:srgbClr val="002060"/>
            </a:solidFill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B551681-4119-45BC-84E7-99ECB0F7B0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16002-258E-4D5D-B321-70C4EFBBF90E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13206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PlaceHolder 1"/>
          <p:cNvSpPr>
            <a:spLocks noGrp="1"/>
          </p:cNvSpPr>
          <p:nvPr>
            <p:ph type="title"/>
          </p:nvPr>
        </p:nvSpPr>
        <p:spPr>
          <a:xfrm>
            <a:off x="2593080" y="624240"/>
            <a:ext cx="8910720" cy="1279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0" strike="noStrike" spc="-1">
                <a:solidFill>
                  <a:srgbClr val="262626"/>
                </a:solidFill>
                <a:latin typeface="Century Gothic"/>
              </a:rPr>
              <a:t>Capture</a:t>
            </a:r>
            <a:endParaRPr lang="en-US" sz="3600" b="0" strike="noStrike" spc="-1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257" name="Group 22"/>
          <p:cNvGrpSpPr/>
          <p:nvPr/>
        </p:nvGrpSpPr>
        <p:grpSpPr>
          <a:xfrm>
            <a:off x="7391520" y="3066120"/>
            <a:ext cx="1967400" cy="1248840"/>
            <a:chOff x="7391520" y="3066120"/>
            <a:chExt cx="1967400" cy="1248840"/>
          </a:xfrm>
        </p:grpSpPr>
        <p:sp>
          <p:nvSpPr>
            <p:cNvPr id="258" name="Rectangle 13"/>
            <p:cNvSpPr/>
            <p:nvPr/>
          </p:nvSpPr>
          <p:spPr>
            <a:xfrm>
              <a:off x="7391520" y="3429000"/>
              <a:ext cx="1904040" cy="884880"/>
            </a:xfrm>
            <a:prstGeom prst="rect">
              <a:avLst/>
            </a:prstGeom>
            <a:noFill/>
            <a:ln cap="rnd">
              <a:solidFill>
                <a:srgbClr val="7A230B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-1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entury Gothic"/>
                <a:ea typeface="DejaVu Sans"/>
              </a:endParaRPr>
            </a:p>
          </p:txBody>
        </p:sp>
        <p:grpSp>
          <p:nvGrpSpPr>
            <p:cNvPr id="259" name="Group 14"/>
            <p:cNvGrpSpPr/>
            <p:nvPr/>
          </p:nvGrpSpPr>
          <p:grpSpPr>
            <a:xfrm>
              <a:off x="7391520" y="3429000"/>
              <a:ext cx="336240" cy="885960"/>
              <a:chOff x="7391520" y="3429000"/>
              <a:chExt cx="336240" cy="885960"/>
            </a:xfrm>
          </p:grpSpPr>
          <p:sp>
            <p:nvSpPr>
              <p:cNvPr id="260" name="Rectangle 15"/>
              <p:cNvSpPr/>
              <p:nvPr/>
            </p:nvSpPr>
            <p:spPr>
              <a:xfrm>
                <a:off x="7391520" y="3429000"/>
                <a:ext cx="336240" cy="884880"/>
              </a:xfrm>
              <a:prstGeom prst="rect">
                <a:avLst/>
              </a:prstGeom>
              <a:noFill/>
              <a:ln cap="rnd">
                <a:solidFill>
                  <a:srgbClr val="7A230B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-1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entury Gothic"/>
                  <a:ea typeface="DejaVu Sans"/>
                </a:endParaRPr>
              </a:p>
            </p:txBody>
          </p:sp>
          <p:sp>
            <p:nvSpPr>
              <p:cNvPr id="261" name="TextBox 16"/>
              <p:cNvSpPr/>
              <p:nvPr/>
            </p:nvSpPr>
            <p:spPr>
              <a:xfrm rot="16200000">
                <a:off x="7115040" y="3720960"/>
                <a:ext cx="884880" cy="3027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1200" cap="none" spc="-1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nsolas"/>
                    <a:ea typeface="DejaVu Sans"/>
                  </a:rPr>
                  <a:t>Buf 2</a:t>
                </a:r>
                <a:endParaRPr kumimoji="0" lang="en-US" sz="1400" b="0" i="0" u="none" strike="noStrike" kern="1200" cap="none" spc="-1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</a:endParaRPr>
              </a:p>
            </p:txBody>
          </p:sp>
        </p:grpSp>
        <p:grpSp>
          <p:nvGrpSpPr>
            <p:cNvPr id="262" name="Group 17"/>
            <p:cNvGrpSpPr/>
            <p:nvPr/>
          </p:nvGrpSpPr>
          <p:grpSpPr>
            <a:xfrm>
              <a:off x="7728840" y="3429000"/>
              <a:ext cx="336240" cy="885960"/>
              <a:chOff x="7728840" y="3429000"/>
              <a:chExt cx="336240" cy="885960"/>
            </a:xfrm>
          </p:grpSpPr>
          <p:sp>
            <p:nvSpPr>
              <p:cNvPr id="263" name="Rectangle 18"/>
              <p:cNvSpPr/>
              <p:nvPr/>
            </p:nvSpPr>
            <p:spPr>
              <a:xfrm>
                <a:off x="7728840" y="3429000"/>
                <a:ext cx="336240" cy="884880"/>
              </a:xfrm>
              <a:prstGeom prst="rect">
                <a:avLst/>
              </a:prstGeom>
              <a:noFill/>
              <a:ln cap="rnd">
                <a:solidFill>
                  <a:srgbClr val="7A230B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-1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entury Gothic"/>
                  <a:ea typeface="DejaVu Sans"/>
                </a:endParaRPr>
              </a:p>
            </p:txBody>
          </p:sp>
          <p:sp>
            <p:nvSpPr>
              <p:cNvPr id="264" name="TextBox 19"/>
              <p:cNvSpPr/>
              <p:nvPr/>
            </p:nvSpPr>
            <p:spPr>
              <a:xfrm rot="16200000">
                <a:off x="7452360" y="3720960"/>
                <a:ext cx="884880" cy="3027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1200" cap="none" spc="-1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nsolas"/>
                    <a:ea typeface="DejaVu Sans"/>
                  </a:rPr>
                  <a:t>Buf 3</a:t>
                </a:r>
                <a:endParaRPr kumimoji="0" lang="en-US" sz="1400" b="0" i="0" u="none" strike="noStrike" kern="1200" cap="none" spc="-1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</a:endParaRPr>
              </a:p>
            </p:txBody>
          </p:sp>
        </p:grpSp>
        <p:sp>
          <p:nvSpPr>
            <p:cNvPr id="265" name="TextBox 20"/>
            <p:cNvSpPr/>
            <p:nvPr/>
          </p:nvSpPr>
          <p:spPr>
            <a:xfrm>
              <a:off x="8199360" y="3066120"/>
              <a:ext cx="1159560" cy="272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t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-1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entury Gothic"/>
                  <a:ea typeface="DejaVu Sans"/>
                </a:rPr>
                <a:t>INPUT queue</a:t>
              </a:r>
              <a:endParaRPr kumimoji="0" lang="en-US" sz="1200" b="0" i="0" u="none" strike="noStrike" kern="1200" cap="none" spc="-1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endParaRPr>
            </a:p>
          </p:txBody>
        </p:sp>
      </p:grpSp>
      <p:grpSp>
        <p:nvGrpSpPr>
          <p:cNvPr id="266" name="Group 26"/>
          <p:cNvGrpSpPr/>
          <p:nvPr/>
        </p:nvGrpSpPr>
        <p:grpSpPr>
          <a:xfrm>
            <a:off x="4734000" y="3429000"/>
            <a:ext cx="2024640" cy="1195920"/>
            <a:chOff x="4734000" y="3429000"/>
            <a:chExt cx="2024640" cy="1195920"/>
          </a:xfrm>
        </p:grpSpPr>
        <p:sp>
          <p:nvSpPr>
            <p:cNvPr id="267" name="Rectangle 3"/>
            <p:cNvSpPr/>
            <p:nvPr/>
          </p:nvSpPr>
          <p:spPr>
            <a:xfrm>
              <a:off x="4734000" y="3429000"/>
              <a:ext cx="1904040" cy="884880"/>
            </a:xfrm>
            <a:prstGeom prst="rect">
              <a:avLst/>
            </a:prstGeom>
            <a:noFill/>
            <a:ln cap="rnd">
              <a:solidFill>
                <a:srgbClr val="7A230B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-1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entury Gothic"/>
                <a:ea typeface="DejaVu Sans"/>
              </a:endParaRPr>
            </a:p>
          </p:txBody>
        </p:sp>
        <p:grpSp>
          <p:nvGrpSpPr>
            <p:cNvPr id="268" name="Group 9"/>
            <p:cNvGrpSpPr/>
            <p:nvPr/>
          </p:nvGrpSpPr>
          <p:grpSpPr>
            <a:xfrm>
              <a:off x="4734000" y="3429000"/>
              <a:ext cx="336240" cy="885960"/>
              <a:chOff x="4734000" y="3429000"/>
              <a:chExt cx="336240" cy="885960"/>
            </a:xfrm>
          </p:grpSpPr>
          <p:sp>
            <p:nvSpPr>
              <p:cNvPr id="269" name="Rectangle 5"/>
              <p:cNvSpPr/>
              <p:nvPr/>
            </p:nvSpPr>
            <p:spPr>
              <a:xfrm>
                <a:off x="4734000" y="3429000"/>
                <a:ext cx="336240" cy="884880"/>
              </a:xfrm>
              <a:prstGeom prst="rect">
                <a:avLst/>
              </a:prstGeom>
              <a:noFill/>
              <a:ln cap="rnd">
                <a:solidFill>
                  <a:srgbClr val="7A230B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-1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entury Gothic"/>
                  <a:ea typeface="DejaVu Sans"/>
                </a:endParaRPr>
              </a:p>
            </p:txBody>
          </p:sp>
          <p:sp>
            <p:nvSpPr>
              <p:cNvPr id="270" name="TextBox 8"/>
              <p:cNvSpPr/>
              <p:nvPr/>
            </p:nvSpPr>
            <p:spPr>
              <a:xfrm rot="16200000">
                <a:off x="4457520" y="3720960"/>
                <a:ext cx="884880" cy="3027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1200" cap="none" spc="-1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nsolas"/>
                    <a:ea typeface="DejaVu Sans"/>
                  </a:rPr>
                  <a:t>Buf 0</a:t>
                </a:r>
                <a:endParaRPr kumimoji="0" lang="en-US" sz="1400" b="0" i="0" u="none" strike="noStrike" kern="1200" cap="none" spc="-1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</a:endParaRPr>
              </a:p>
            </p:txBody>
          </p:sp>
        </p:grpSp>
        <p:grpSp>
          <p:nvGrpSpPr>
            <p:cNvPr id="271" name="Group 10"/>
            <p:cNvGrpSpPr/>
            <p:nvPr/>
          </p:nvGrpSpPr>
          <p:grpSpPr>
            <a:xfrm>
              <a:off x="5071320" y="3429000"/>
              <a:ext cx="336240" cy="885960"/>
              <a:chOff x="5071320" y="3429000"/>
              <a:chExt cx="336240" cy="885960"/>
            </a:xfrm>
          </p:grpSpPr>
          <p:sp>
            <p:nvSpPr>
              <p:cNvPr id="272" name="Rectangle 11"/>
              <p:cNvSpPr/>
              <p:nvPr/>
            </p:nvSpPr>
            <p:spPr>
              <a:xfrm>
                <a:off x="5071320" y="3429000"/>
                <a:ext cx="336240" cy="884880"/>
              </a:xfrm>
              <a:prstGeom prst="rect">
                <a:avLst/>
              </a:prstGeom>
              <a:noFill/>
              <a:ln cap="rnd">
                <a:solidFill>
                  <a:srgbClr val="7A230B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-1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entury Gothic"/>
                  <a:ea typeface="DejaVu Sans"/>
                </a:endParaRPr>
              </a:p>
            </p:txBody>
          </p:sp>
          <p:sp>
            <p:nvSpPr>
              <p:cNvPr id="273" name="TextBox 12"/>
              <p:cNvSpPr/>
              <p:nvPr/>
            </p:nvSpPr>
            <p:spPr>
              <a:xfrm rot="16200000">
                <a:off x="4794840" y="3720960"/>
                <a:ext cx="884880" cy="3027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1200" cap="none" spc="-1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nsolas"/>
                    <a:ea typeface="DejaVu Sans"/>
                  </a:rPr>
                  <a:t>Buf 1</a:t>
                </a:r>
                <a:endParaRPr kumimoji="0" lang="en-US" sz="1400" b="0" i="0" u="none" strike="noStrike" kern="1200" cap="none" spc="-1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</a:endParaRPr>
              </a:p>
            </p:txBody>
          </p:sp>
        </p:grpSp>
        <p:sp>
          <p:nvSpPr>
            <p:cNvPr id="274" name="TextBox 21"/>
            <p:cNvSpPr/>
            <p:nvPr/>
          </p:nvSpPr>
          <p:spPr>
            <a:xfrm>
              <a:off x="5433120" y="4352760"/>
              <a:ext cx="1325520" cy="272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t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-1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entury Gothic"/>
                  <a:ea typeface="DejaVu Sans"/>
                </a:rPr>
                <a:t>OUTPUT queue</a:t>
              </a:r>
              <a:endParaRPr kumimoji="0" lang="en-US" sz="1200" b="0" i="0" u="none" strike="noStrike" kern="1200" cap="none" spc="-1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endParaRPr>
            </a:p>
          </p:txBody>
        </p:sp>
      </p:grpSp>
      <p:sp>
        <p:nvSpPr>
          <p:cNvPr id="275" name="Arrow: Curved Right 24"/>
          <p:cNvSpPr/>
          <p:nvPr/>
        </p:nvSpPr>
        <p:spPr>
          <a:xfrm rot="5400000">
            <a:off x="6000480" y="1627560"/>
            <a:ext cx="1122840" cy="2304360"/>
          </a:xfrm>
          <a:prstGeom prst="curvedRightArrow">
            <a:avLst>
              <a:gd name="adj1" fmla="val 25000"/>
              <a:gd name="adj2" fmla="val 50000"/>
              <a:gd name="adj3" fmla="val 25000"/>
            </a:avLst>
          </a:prstGeom>
          <a:solidFill>
            <a:srgbClr val="A53010"/>
          </a:solidFill>
          <a:ln cap="rnd">
            <a:solidFill>
              <a:srgbClr val="7A230B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/>
              <a:ea typeface="DejaVu Sans"/>
            </a:endParaRPr>
          </a:p>
        </p:txBody>
      </p:sp>
      <p:sp>
        <p:nvSpPr>
          <p:cNvPr id="276" name="Arrow: Curved Right 25"/>
          <p:cNvSpPr/>
          <p:nvPr/>
        </p:nvSpPr>
        <p:spPr>
          <a:xfrm rot="16200000">
            <a:off x="6048360" y="3077280"/>
            <a:ext cx="1360800" cy="3989880"/>
          </a:xfrm>
          <a:prstGeom prst="curvedRightArrow">
            <a:avLst>
              <a:gd name="adj1" fmla="val 25000"/>
              <a:gd name="adj2" fmla="val 50000"/>
              <a:gd name="adj3" fmla="val 25000"/>
            </a:avLst>
          </a:prstGeom>
          <a:solidFill>
            <a:srgbClr val="A53010"/>
          </a:solidFill>
          <a:ln cap="rnd">
            <a:solidFill>
              <a:srgbClr val="7A230B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/>
              <a:ea typeface="DejaVu Sans"/>
            </a:endParaRPr>
          </a:p>
        </p:txBody>
      </p:sp>
      <p:sp>
        <p:nvSpPr>
          <p:cNvPr id="277" name="TextBox 27"/>
          <p:cNvSpPr/>
          <p:nvPr/>
        </p:nvSpPr>
        <p:spPr>
          <a:xfrm>
            <a:off x="5725800" y="1832760"/>
            <a:ext cx="182556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-1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DejaVu Sans"/>
              </a:rPr>
              <a:t>VIDIOC_DQBUF</a:t>
            </a: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</a:endParaRPr>
          </a:p>
        </p:txBody>
      </p:sp>
      <p:sp>
        <p:nvSpPr>
          <p:cNvPr id="278" name="TextBox 28"/>
          <p:cNvSpPr/>
          <p:nvPr/>
        </p:nvSpPr>
        <p:spPr>
          <a:xfrm>
            <a:off x="5794560" y="5790960"/>
            <a:ext cx="168840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-1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DejaVu Sans"/>
              </a:rPr>
              <a:t>VIDIOC_QBUF</a:t>
            </a: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</a:endParaRPr>
          </a:p>
        </p:txBody>
      </p:sp>
      <p:sp>
        <p:nvSpPr>
          <p:cNvPr id="279" name="Rectangle 29"/>
          <p:cNvSpPr/>
          <p:nvPr/>
        </p:nvSpPr>
        <p:spPr>
          <a:xfrm>
            <a:off x="10063800" y="3076560"/>
            <a:ext cx="1812600" cy="1608480"/>
          </a:xfrm>
          <a:prstGeom prst="rect">
            <a:avLst/>
          </a:prstGeom>
          <a:noFill/>
          <a:ln cap="rnd">
            <a:solidFill>
              <a:srgbClr val="7A230B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-1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/>
                <a:ea typeface="DejaVu Sans"/>
              </a:rPr>
              <a:t>Bridge Driver</a:t>
            </a: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-1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/>
                <a:ea typeface="DejaVu Sans"/>
              </a:rPr>
              <a:t>(e.g atmel-isi)</a:t>
            </a: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</a:endParaRPr>
          </a:p>
        </p:txBody>
      </p:sp>
      <p:sp>
        <p:nvSpPr>
          <p:cNvPr id="280" name="Rectangle 32"/>
          <p:cNvSpPr/>
          <p:nvPr/>
        </p:nvSpPr>
        <p:spPr>
          <a:xfrm>
            <a:off x="4581360" y="1733400"/>
            <a:ext cx="4837680" cy="4580280"/>
          </a:xfrm>
          <a:prstGeom prst="rect">
            <a:avLst/>
          </a:prstGeom>
          <a:noFill/>
          <a:ln cap="rnd">
            <a:solidFill>
              <a:srgbClr val="7A230B"/>
            </a:solidFill>
            <a:prstDash val="dashDot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entury Gothic"/>
              <a:ea typeface="DejaVu Sans"/>
            </a:endParaRPr>
          </a:p>
        </p:txBody>
      </p:sp>
      <p:sp>
        <p:nvSpPr>
          <p:cNvPr id="281" name="TextBox 33"/>
          <p:cNvSpPr/>
          <p:nvPr/>
        </p:nvSpPr>
        <p:spPr>
          <a:xfrm>
            <a:off x="7590960" y="1326240"/>
            <a:ext cx="189720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-1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DejaVu Sans"/>
              </a:rPr>
              <a:t>vb2</a:t>
            </a:r>
            <a:r>
              <a:rPr kumimoji="0" lang="en-US" sz="1800" b="0" i="0" u="none" strike="noStrike" kern="1200" cap="none" spc="-1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/>
                <a:ea typeface="DejaVu Sans"/>
              </a:rPr>
              <a:t> framework</a:t>
            </a: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</a:endParaRPr>
          </a:p>
        </p:txBody>
      </p:sp>
      <p:sp>
        <p:nvSpPr>
          <p:cNvPr id="282" name="Arrow: Left 34"/>
          <p:cNvSpPr/>
          <p:nvPr/>
        </p:nvSpPr>
        <p:spPr>
          <a:xfrm>
            <a:off x="9341280" y="3676680"/>
            <a:ext cx="721440" cy="368280"/>
          </a:xfrm>
          <a:prstGeom prst="leftArrow">
            <a:avLst>
              <a:gd name="adj1" fmla="val 50000"/>
              <a:gd name="adj2" fmla="val 50000"/>
            </a:avLst>
          </a:prstGeom>
          <a:solidFill>
            <a:srgbClr val="A53010"/>
          </a:solidFill>
          <a:ln cap="rnd">
            <a:solidFill>
              <a:srgbClr val="7A230B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entury Gothic"/>
              <a:ea typeface="DejaVu Sans"/>
            </a:endParaRPr>
          </a:p>
        </p:txBody>
      </p:sp>
      <p:cxnSp>
        <p:nvCxnSpPr>
          <p:cNvPr id="283" name="Straight Connector 4"/>
          <p:cNvCxnSpPr/>
          <p:nvPr/>
        </p:nvCxnSpPr>
        <p:spPr>
          <a:xfrm>
            <a:off x="3924000" y="1447560"/>
            <a:ext cx="1080" cy="5237640"/>
          </a:xfrm>
          <a:prstGeom prst="straightConnector1">
            <a:avLst/>
          </a:prstGeom>
          <a:ln w="38100" cap="rnd">
            <a:solidFill>
              <a:srgbClr val="9D2D0F"/>
            </a:solidFill>
            <a:prstDash val="dashDot"/>
            <a:round/>
          </a:ln>
        </p:spPr>
      </p:cxnSp>
      <p:sp>
        <p:nvSpPr>
          <p:cNvPr id="284" name="TextBox 7"/>
          <p:cNvSpPr/>
          <p:nvPr/>
        </p:nvSpPr>
        <p:spPr>
          <a:xfrm>
            <a:off x="2289960" y="6315120"/>
            <a:ext cx="144288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-1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/>
                <a:ea typeface="DejaVu Sans"/>
              </a:rPr>
              <a:t>User space</a:t>
            </a: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</a:endParaRPr>
          </a:p>
        </p:txBody>
      </p:sp>
      <p:sp>
        <p:nvSpPr>
          <p:cNvPr id="285" name="Rectangle 35"/>
          <p:cNvSpPr/>
          <p:nvPr/>
        </p:nvSpPr>
        <p:spPr>
          <a:xfrm>
            <a:off x="1279800" y="3504240"/>
            <a:ext cx="2237760" cy="713160"/>
          </a:xfrm>
          <a:prstGeom prst="rect">
            <a:avLst/>
          </a:prstGeom>
          <a:noFill/>
          <a:ln cap="rnd">
            <a:solidFill>
              <a:srgbClr val="7A230B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-1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/>
                <a:ea typeface="DejaVu Sans"/>
              </a:rPr>
              <a:t>Application</a:t>
            </a: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-1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/>
                <a:ea typeface="DejaVu Sans"/>
              </a:rPr>
              <a:t>(e.g. Gstreamer)</a:t>
            </a: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</a:endParaRPr>
          </a:p>
        </p:txBody>
      </p:sp>
      <p:sp>
        <p:nvSpPr>
          <p:cNvPr id="286" name="TextBox 36"/>
          <p:cNvSpPr/>
          <p:nvPr/>
        </p:nvSpPr>
        <p:spPr>
          <a:xfrm>
            <a:off x="4048560" y="6315120"/>
            <a:ext cx="164052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-1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/>
                <a:ea typeface="DejaVu Sans"/>
              </a:rPr>
              <a:t>Kernel space</a:t>
            </a: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F0A8E09-396A-43D5-8FB1-10177875864F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130B98FF-4A02-4D16-9C69-04FB3D46DB77}" type="slidenum">
              <a:rPr lang="en-US" smtClean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PlaceHolder 1"/>
          <p:cNvSpPr>
            <a:spLocks noGrp="1"/>
          </p:cNvSpPr>
          <p:nvPr>
            <p:ph type="title"/>
          </p:nvPr>
        </p:nvSpPr>
        <p:spPr>
          <a:xfrm>
            <a:off x="2593080" y="624240"/>
            <a:ext cx="8910720" cy="1279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0" strike="noStrike" spc="-1">
                <a:solidFill>
                  <a:srgbClr val="262626"/>
                </a:solidFill>
                <a:latin typeface="Century Gothic"/>
              </a:rPr>
              <a:t>More information</a:t>
            </a:r>
            <a:endParaRPr lang="en-US" sz="3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3" name="PlaceHolder 2"/>
          <p:cNvSpPr>
            <a:spLocks noGrp="1"/>
          </p:cNvSpPr>
          <p:nvPr>
            <p:ph/>
          </p:nvPr>
        </p:nvSpPr>
        <p:spPr>
          <a:xfrm>
            <a:off x="2589120" y="2133720"/>
            <a:ext cx="4943880" cy="37764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Symbol"/>
              <a:buChar char=""/>
            </a:pPr>
            <a:r>
              <a:rPr lang="en-US" sz="1800" b="0" i="1" strike="noStrike" spc="-1">
                <a:solidFill>
                  <a:srgbClr val="404040"/>
                </a:solidFill>
                <a:latin typeface="Century Gothic"/>
              </a:rPr>
              <a:t>Mastering Linux Device Driver Development </a:t>
            </a:r>
            <a:r>
              <a:rPr lang="en-US" sz="1800" b="0" strike="noStrike" spc="-1">
                <a:solidFill>
                  <a:srgbClr val="404040"/>
                </a:solidFill>
                <a:latin typeface="Century Gothic"/>
              </a:rPr>
              <a:t>by John Madieu </a:t>
            </a:r>
            <a:br>
              <a:rPr sz="1800"/>
            </a:br>
            <a:r>
              <a:rPr lang="en-US" sz="1800" b="0" strike="noStrike" spc="-1">
                <a:solidFill>
                  <a:srgbClr val="404040"/>
                </a:solidFill>
                <a:latin typeface="Century Gothic"/>
              </a:rPr>
              <a:t>(Chapter 9)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Symbol"/>
              <a:buChar char=""/>
            </a:pPr>
            <a:r>
              <a:rPr lang="en-US" sz="1800" b="0" strike="noStrike" spc="-1">
                <a:solidFill>
                  <a:srgbClr val="404040"/>
                </a:solidFill>
                <a:latin typeface="Century Gothic"/>
              </a:rPr>
              <a:t>Linux V4L2 user API documentation: </a:t>
            </a:r>
            <a:r>
              <a:rPr lang="en-US" sz="1800" b="0" u="sng" strike="noStrike" spc="-1">
                <a:solidFill>
                  <a:srgbClr val="FB4A18"/>
                </a:solidFill>
                <a:uFillTx/>
                <a:latin typeface="Century Gothic"/>
                <a:hlinkClick r:id="rId2"/>
              </a:rPr>
              <a:t>https://www.kernel.org/doc/html/v4.9/media/uapi/v4l/user-func.html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94" name="Picture 4"/>
          <p:cNvPicPr/>
          <p:nvPr/>
        </p:nvPicPr>
        <p:blipFill>
          <a:blip r:embed="rId3"/>
          <a:stretch/>
        </p:blipFill>
        <p:spPr>
          <a:xfrm>
            <a:off x="7695360" y="1659960"/>
            <a:ext cx="3806280" cy="4723560"/>
          </a:xfrm>
          <a:prstGeom prst="rect">
            <a:avLst/>
          </a:prstGeom>
          <a:ln w="0">
            <a:noFill/>
          </a:ln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100610D-AEED-48CD-AEE6-41C8B5D74EDA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130B98FF-4A02-4D16-9C69-04FB3D46DB77}" type="slidenum">
              <a:rPr lang="en-US" smtClean="0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1_Wisp">
  <a:themeElements>
    <a:clrScheme name="Wisp">
      <a:dk1>
        <a:srgbClr val="000000"/>
      </a:dk1>
      <a:lt1>
        <a:srgbClr val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590</TotalTime>
  <Words>741</Words>
  <Application>Microsoft Office PowerPoint</Application>
  <PresentationFormat>Widescreen</PresentationFormat>
  <Paragraphs>181</Paragraphs>
  <Slides>14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14</vt:i4>
      </vt:variant>
    </vt:vector>
  </HeadingPairs>
  <TitlesOfParts>
    <vt:vector size="24" baseType="lpstr">
      <vt:lpstr>Arial</vt:lpstr>
      <vt:lpstr>Calibri</vt:lpstr>
      <vt:lpstr>Century Gothic</vt:lpstr>
      <vt:lpstr>Consolas</vt:lpstr>
      <vt:lpstr>Symbol</vt:lpstr>
      <vt:lpstr>Times New Roman</vt:lpstr>
      <vt:lpstr>Wingdings</vt:lpstr>
      <vt:lpstr>Wingdings 3</vt:lpstr>
      <vt:lpstr>Wisp</vt:lpstr>
      <vt:lpstr>1_Wisp</vt:lpstr>
      <vt:lpstr>v4l2 capture example  in C (Step by Step)</vt:lpstr>
      <vt:lpstr>Agenda</vt:lpstr>
      <vt:lpstr>The problem</vt:lpstr>
      <vt:lpstr>v4l2 overview </vt:lpstr>
      <vt:lpstr>Solution materials</vt:lpstr>
      <vt:lpstr>Capture process</vt:lpstr>
      <vt:lpstr>Overview </vt:lpstr>
      <vt:lpstr>ioctl() simple example</vt:lpstr>
      <vt:lpstr>ioctl() directions</vt:lpstr>
      <vt:lpstr>mmap() simple example</vt:lpstr>
      <vt:lpstr>mmap() in v4l2 streaming mode</vt:lpstr>
      <vt:lpstr>Mapping buffers</vt:lpstr>
      <vt:lpstr>Capture</vt:lpstr>
      <vt:lpstr>More information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v4l2 capture example  in C</dc:title>
  <dc:creator>Arash Golgol</dc:creator>
  <cp:lastModifiedBy>Arash Golgol</cp:lastModifiedBy>
  <cp:revision>134</cp:revision>
  <dcterms:created xsi:type="dcterms:W3CDTF">2025-08-11T12:12:48Z</dcterms:created>
  <dcterms:modified xsi:type="dcterms:W3CDTF">2025-09-07T07:40:35Z</dcterms:modified>
</cp:coreProperties>
</file>